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9" r:id="rId3"/>
    <p:sldId id="260" r:id="rId4"/>
    <p:sldId id="257" r:id="rId5"/>
    <p:sldId id="258" r:id="rId6"/>
    <p:sldId id="262" r:id="rId7"/>
    <p:sldId id="263" r:id="rId8"/>
    <p:sldId id="267" r:id="rId9"/>
    <p:sldId id="268" r:id="rId10"/>
    <p:sldId id="270" r:id="rId11"/>
    <p:sldId id="264" r:id="rId12"/>
    <p:sldId id="266" r:id="rId13"/>
    <p:sldId id="265" r:id="rId14"/>
    <p:sldId id="261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custShowLst>
    <p:custShow name="Egyéni diasor 1" id="0">
      <p:sldLst>
        <p:sld r:id="rId2"/>
        <p:sld r:id="rId3"/>
        <p:sld r:id="rId4"/>
        <p:sld r:id="rId12"/>
        <p:sld r:id="rId14"/>
        <p:sld r:id="rId15"/>
        <p:sld r:id="rId16"/>
        <p:sld r:id="rId17"/>
        <p:sld r:id="rId19"/>
        <p:sld r:id="rId20"/>
        <p:sld r:id="rId22"/>
        <p:sld r:id="rId23"/>
        <p:sld r:id="rId24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lapértelmezett szakasz" id="{65DAECD9-7F7F-4AB0-9A7A-E33EBFF3B648}">
          <p14:sldIdLst>
            <p14:sldId id="256"/>
            <p14:sldId id="259"/>
            <p14:sldId id="260"/>
            <p14:sldId id="257"/>
            <p14:sldId id="258"/>
            <p14:sldId id="262"/>
            <p14:sldId id="263"/>
            <p14:sldId id="267"/>
            <p14:sldId id="268"/>
            <p14:sldId id="270"/>
            <p14:sldId id="264"/>
            <p14:sldId id="266"/>
            <p14:sldId id="265"/>
            <p14:sldId id="261"/>
            <p14:sldId id="269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custShow id="0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éma alapján készült stílus 1 – 2. jelölőszín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7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942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41737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3785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7098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67710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22513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7418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97682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50550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7898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703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6422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259453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56543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89697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95288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97C1A-0C31-4DD7-83D2-D6B01E9284D8}" type="datetimeFigureOut">
              <a:rPr lang="hu-HU" smtClean="0"/>
              <a:t>2026. 10. 06.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DD86CC7-3C3E-443A-8383-B59D972328A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9653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2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8376270-42C0-4E2C-AE05-2F2A1AE478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Backend programozás és tesztelés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36D556E6-8DC5-4FC2-A4BA-875FAE4ECD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Bevezetés és a környezet előkészítése</a:t>
            </a:r>
          </a:p>
          <a:p>
            <a:r>
              <a:rPr lang="hu-HU" dirty="0"/>
              <a:t>Készítette: Babos-Csapó Ildikó Eszter</a:t>
            </a:r>
          </a:p>
        </p:txBody>
      </p:sp>
    </p:spTree>
    <p:extLst>
      <p:ext uri="{BB962C8B-B14F-4D97-AF65-F5344CB8AC3E}">
        <p14:creationId xmlns:p14="http://schemas.microsoft.com/office/powerpoint/2010/main" val="3745797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C455D5-E969-455A-A681-30D9648FF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BACKEND fogalma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D221B2-3291-4A4C-A32F-CA681CE9E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hu-HU" dirty="0"/>
              <a:t>A </a:t>
            </a:r>
            <a:r>
              <a:rPr lang="hu-HU" b="1" dirty="0"/>
              <a:t>backend</a:t>
            </a:r>
            <a:r>
              <a:rPr lang="hu-HU" dirty="0"/>
              <a:t> (magyarul: háttéroldal vagy szerveroldal) a webalkalmazások azon része, amely a felhasználó számára </a:t>
            </a:r>
            <a:r>
              <a:rPr lang="hu-HU" b="1" dirty="0"/>
              <a:t>nem látható</a:t>
            </a:r>
            <a:r>
              <a:rPr lang="hu-HU" dirty="0"/>
              <a:t>, de az alkalmazás működésének </a:t>
            </a:r>
            <a:r>
              <a:rPr lang="hu-HU" b="1" dirty="0"/>
              <a:t>lényegi logikáját és adatkezelését</a:t>
            </a:r>
            <a:r>
              <a:rPr lang="hu-HU" dirty="0"/>
              <a:t> biztosítja.</a:t>
            </a:r>
          </a:p>
          <a:p>
            <a:r>
              <a:rPr lang="hu-HU" dirty="0"/>
              <a:t>A backend feladatai:</a:t>
            </a:r>
          </a:p>
          <a:p>
            <a:pPr lvl="1"/>
            <a:r>
              <a:rPr lang="hu-HU" b="1" dirty="0"/>
              <a:t>Adatok tárolása és lekérdezése</a:t>
            </a:r>
            <a:r>
              <a:rPr lang="hu-HU" dirty="0"/>
              <a:t> (pl. adatbázisból)</a:t>
            </a:r>
          </a:p>
          <a:p>
            <a:pPr lvl="1"/>
            <a:r>
              <a:rPr lang="hu-HU" b="1" dirty="0"/>
              <a:t>Üzleti logika kezelése</a:t>
            </a:r>
            <a:r>
              <a:rPr lang="hu-HU" dirty="0"/>
              <a:t> (pl. jogosultságok, számítások)</a:t>
            </a:r>
          </a:p>
          <a:p>
            <a:pPr lvl="1"/>
            <a:r>
              <a:rPr lang="hu-HU" b="1" dirty="0"/>
              <a:t>Kérések fogadása és válaszok küldése</a:t>
            </a:r>
            <a:r>
              <a:rPr lang="hu-HU" dirty="0"/>
              <a:t> (pl. REST API-n keresztül)</a:t>
            </a:r>
          </a:p>
          <a:p>
            <a:pPr lvl="1"/>
            <a:r>
              <a:rPr lang="hu-HU" b="1" dirty="0"/>
              <a:t>Hitelesítés és biztonság</a:t>
            </a:r>
            <a:r>
              <a:rPr lang="hu-HU" dirty="0"/>
              <a:t> (pl. bejelentkezés, jelszavak kezelése)</a:t>
            </a:r>
          </a:p>
          <a:p>
            <a:pPr lvl="1"/>
            <a:r>
              <a:rPr lang="hu-HU" b="1" dirty="0"/>
              <a:t>Kommunikáció más rendszerekkel</a:t>
            </a:r>
            <a:r>
              <a:rPr lang="hu-HU" dirty="0"/>
              <a:t> (pl. külső API-k, e-mail küldés)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40894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F767E2-AB16-4318-8E3E-BCD35DE97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896346"/>
          </a:xfrm>
        </p:spPr>
        <p:txBody>
          <a:bodyPr/>
          <a:lstStyle/>
          <a:p>
            <a:r>
              <a:rPr lang="hu-HU" dirty="0"/>
              <a:t>BACKEND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6F71DB7-47D1-402C-9670-C12A68D6C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20456"/>
            <a:ext cx="8915400" cy="4880344"/>
          </a:xfrm>
        </p:spPr>
        <p:txBody>
          <a:bodyPr>
            <a:normAutofit/>
          </a:bodyPr>
          <a:lstStyle/>
          <a:p>
            <a:r>
              <a:rPr lang="hu-HU" dirty="0"/>
              <a:t>Programozási nyelvek:</a:t>
            </a:r>
          </a:p>
          <a:p>
            <a:pPr lvl="1"/>
            <a:r>
              <a:rPr lang="hu-HU" dirty="0"/>
              <a:t>JavaScript (</a:t>
            </a:r>
            <a:r>
              <a:rPr lang="hu-HU" dirty="0">
                <a:hlinkClick r:id="rId2" action="ppaction://hlinksldjump"/>
              </a:rPr>
              <a:t>Node.js</a:t>
            </a:r>
            <a:r>
              <a:rPr lang="hu-HU" dirty="0"/>
              <a:t>)</a:t>
            </a:r>
          </a:p>
          <a:p>
            <a:pPr lvl="1"/>
            <a:r>
              <a:rPr lang="hu-HU" dirty="0"/>
              <a:t>Python (</a:t>
            </a:r>
            <a:r>
              <a:rPr lang="hu-HU" dirty="0" err="1"/>
              <a:t>Django</a:t>
            </a:r>
            <a:r>
              <a:rPr lang="hu-HU" dirty="0"/>
              <a:t>, </a:t>
            </a:r>
            <a:r>
              <a:rPr lang="hu-HU" dirty="0" err="1"/>
              <a:t>Flask</a:t>
            </a:r>
            <a:r>
              <a:rPr lang="hu-HU" dirty="0"/>
              <a:t>)</a:t>
            </a:r>
          </a:p>
          <a:p>
            <a:pPr lvl="1"/>
            <a:r>
              <a:rPr lang="hu-HU" dirty="0"/>
              <a:t>PHP (</a:t>
            </a:r>
            <a:r>
              <a:rPr lang="hu-HU" dirty="0" err="1"/>
              <a:t>Laravel</a:t>
            </a:r>
            <a:r>
              <a:rPr lang="hu-HU" dirty="0"/>
              <a:t>)</a:t>
            </a:r>
          </a:p>
          <a:p>
            <a:pPr lvl="1"/>
            <a:r>
              <a:rPr lang="hu-HU" dirty="0"/>
              <a:t>Java (Spring Boot)</a:t>
            </a:r>
          </a:p>
          <a:p>
            <a:pPr lvl="1"/>
            <a:r>
              <a:rPr lang="hu-HU" dirty="0"/>
              <a:t>C# (.NET)</a:t>
            </a:r>
          </a:p>
          <a:p>
            <a:r>
              <a:rPr lang="hu-HU" dirty="0">
                <a:hlinkClick r:id="rId3" action="ppaction://hlinksldjump"/>
              </a:rPr>
              <a:t>Keretrendszerek</a:t>
            </a:r>
            <a:r>
              <a:rPr lang="hu-HU" dirty="0"/>
              <a:t>:</a:t>
            </a:r>
          </a:p>
          <a:p>
            <a:pPr lvl="1"/>
            <a:r>
              <a:rPr lang="hu-HU" dirty="0">
                <a:hlinkClick r:id="rId4" action="ppaction://hlinksldjump"/>
              </a:rPr>
              <a:t>Express.js </a:t>
            </a:r>
            <a:r>
              <a:rPr lang="hu-HU" dirty="0"/>
              <a:t>(Node.js)</a:t>
            </a:r>
          </a:p>
          <a:p>
            <a:pPr lvl="1"/>
            <a:r>
              <a:rPr lang="hu-HU" dirty="0" err="1"/>
              <a:t>Django</a:t>
            </a:r>
            <a:r>
              <a:rPr lang="hu-HU" dirty="0"/>
              <a:t> (Python)</a:t>
            </a:r>
          </a:p>
          <a:p>
            <a:pPr lvl="1"/>
            <a:r>
              <a:rPr lang="hu-HU" dirty="0" err="1"/>
              <a:t>Laravel</a:t>
            </a:r>
            <a:r>
              <a:rPr lang="hu-HU" dirty="0"/>
              <a:t> (PHP)</a:t>
            </a:r>
          </a:p>
          <a:p>
            <a:pPr lvl="1"/>
            <a:r>
              <a:rPr lang="hu-HU" dirty="0"/>
              <a:t>Spring Boot (Java)</a:t>
            </a:r>
          </a:p>
        </p:txBody>
      </p:sp>
    </p:spTree>
    <p:extLst>
      <p:ext uri="{BB962C8B-B14F-4D97-AF65-F5344CB8AC3E}">
        <p14:creationId xmlns:p14="http://schemas.microsoft.com/office/powerpoint/2010/main" val="1096005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4A0FA0-D341-4E5A-A8F6-FE9F93D54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704960"/>
          </a:xfrm>
        </p:spPr>
        <p:txBody>
          <a:bodyPr/>
          <a:lstStyle/>
          <a:p>
            <a:r>
              <a:rPr lang="hu-HU" dirty="0"/>
              <a:t>Node.js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84535EC-6623-4369-BA25-FC013A6D1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24763"/>
            <a:ext cx="8915400" cy="4486459"/>
          </a:xfrm>
        </p:spPr>
        <p:txBody>
          <a:bodyPr/>
          <a:lstStyle/>
          <a:p>
            <a:pPr algn="just"/>
            <a:r>
              <a:rPr lang="hu-HU" dirty="0"/>
              <a:t>A Node.js egy olyan futtatókörnyezet, amely lehetővé teszi, hogy JavaScript nyelven ne csak böngészőben, hanem szerveren is írjunk programokat.</a:t>
            </a:r>
          </a:p>
          <a:p>
            <a:pPr algn="just"/>
            <a:r>
              <a:rPr lang="hu-HU" dirty="0"/>
              <a:t>Ez azt jelenti, hogy a weboldalak mögötti logikát (pl. adatkezelés, API-k, hitelesítés) is JavaScripttel tudjuk megvalósítani.</a:t>
            </a:r>
          </a:p>
          <a:p>
            <a:pPr algn="just"/>
            <a:r>
              <a:rPr lang="hu-HU" dirty="0"/>
              <a:t>Jellemzői:</a:t>
            </a:r>
          </a:p>
          <a:p>
            <a:pPr lvl="1" algn="just"/>
            <a:r>
              <a:rPr lang="hu-HU" b="1" dirty="0">
                <a:hlinkClick r:id="rId2" action="ppaction://hlinksldjump"/>
              </a:rPr>
              <a:t>Esemény vezérelt</a:t>
            </a:r>
            <a:endParaRPr lang="hu-HU" b="1" dirty="0"/>
          </a:p>
          <a:p>
            <a:pPr lvl="1" algn="just"/>
            <a:r>
              <a:rPr lang="hu-HU" b="1" dirty="0"/>
              <a:t>Aszinkron</a:t>
            </a:r>
            <a:r>
              <a:rPr lang="hu-HU" dirty="0"/>
              <a:t>: például amikor fájlt olvasunk, a program nem áll meg, hanem a fájl beolvasása után egy </a:t>
            </a:r>
            <a:r>
              <a:rPr lang="hu-HU" dirty="0" err="1"/>
              <a:t>callback</a:t>
            </a:r>
            <a:r>
              <a:rPr lang="hu-HU" dirty="0"/>
              <a:t> fut le, azaz a program nem vár egy művelet befejezésére, hanem közben más feladatokat is végez</a:t>
            </a:r>
          </a:p>
          <a:p>
            <a:pPr lvl="1" algn="just"/>
            <a:r>
              <a:rPr lang="hu-HU" b="1" dirty="0"/>
              <a:t>Nem blokkoló I/O</a:t>
            </a:r>
            <a:r>
              <a:rPr lang="hu-HU" dirty="0"/>
              <a:t>: gyorsan tud fájlokat, adatbázist kezelni.</a:t>
            </a:r>
          </a:p>
          <a:p>
            <a:pPr lvl="1" algn="just"/>
            <a:r>
              <a:rPr lang="hu-HU" b="1" dirty="0"/>
              <a:t>Közös nyelv</a:t>
            </a:r>
            <a:r>
              <a:rPr lang="hu-HU" dirty="0"/>
              <a:t>: frontend és a backend is JavaScript lehet.</a:t>
            </a:r>
          </a:p>
          <a:p>
            <a:pPr lvl="1" algn="just"/>
            <a:endParaRPr lang="hu-HU" dirty="0"/>
          </a:p>
        </p:txBody>
      </p:sp>
      <p:sp>
        <p:nvSpPr>
          <p:cNvPr id="4" name="Nyíl: jobbra mutató 3">
            <a:hlinkClick r:id="rId3" action="ppaction://hlinksldjump"/>
            <a:extLst>
              <a:ext uri="{FF2B5EF4-FFF2-40B4-BE49-F238E27FC236}">
                <a16:creationId xmlns:a16="http://schemas.microsoft.com/office/drawing/2014/main" id="{268B0ABB-2226-4FE2-B4EB-51F92C911006}"/>
              </a:ext>
            </a:extLst>
          </p:cNvPr>
          <p:cNvSpPr/>
          <p:nvPr/>
        </p:nvSpPr>
        <p:spPr>
          <a:xfrm>
            <a:off x="11238614" y="6233890"/>
            <a:ext cx="574158" cy="337031"/>
          </a:xfrm>
          <a:prstGeom prst="rightArrow">
            <a:avLst>
              <a:gd name="adj1" fmla="val 37381"/>
              <a:gd name="adj2" fmla="val 10994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4060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B84E62-7E74-4327-BD9B-6F9A631A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Esemény vezérelt programozás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612A514-DBAF-44EC-B625-82CF214FE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531088"/>
            <a:ext cx="8915400" cy="4380134"/>
          </a:xfrm>
        </p:spPr>
        <p:txBody>
          <a:bodyPr>
            <a:normAutofit lnSpcReduction="10000"/>
          </a:bodyPr>
          <a:lstStyle/>
          <a:p>
            <a:pPr algn="just"/>
            <a:r>
              <a:rPr lang="hu-HU" dirty="0"/>
              <a:t>Az esemény vezérelt programozás olyan programozási paradigma, ahol a program </a:t>
            </a:r>
            <a:r>
              <a:rPr lang="hu-HU" b="1" dirty="0"/>
              <a:t>eseményekre reagál</a:t>
            </a:r>
            <a:r>
              <a:rPr lang="hu-HU" dirty="0"/>
              <a:t> – például felhasználói interakciókra, hálózati válaszokra, fájlműveletekre vagy időzítésekre.</a:t>
            </a:r>
          </a:p>
          <a:p>
            <a:pPr algn="just"/>
            <a:r>
              <a:rPr lang="hu-HU" dirty="0"/>
              <a:t>A vezérlés nem lineárisan történik, hanem </a:t>
            </a:r>
            <a:r>
              <a:rPr lang="hu-HU" b="1" dirty="0"/>
              <a:t>események váltják ki a műveleteket</a:t>
            </a:r>
            <a:r>
              <a:rPr lang="hu-HU" dirty="0"/>
              <a:t>.</a:t>
            </a:r>
          </a:p>
          <a:p>
            <a:pPr algn="just"/>
            <a:r>
              <a:rPr lang="hu-HU" dirty="0"/>
              <a:t>Például:</a:t>
            </a:r>
          </a:p>
          <a:p>
            <a:pPr lvl="1" algn="just"/>
            <a:r>
              <a:rPr lang="hu-HU" dirty="0"/>
              <a:t>A felhasználó megnyom egy gombot</a:t>
            </a:r>
          </a:p>
          <a:p>
            <a:pPr lvl="1" algn="just"/>
            <a:r>
              <a:rPr lang="hu-HU" dirty="0"/>
              <a:t>Egy HTTP kérés érkezik a szerverre</a:t>
            </a:r>
          </a:p>
          <a:p>
            <a:pPr algn="just"/>
            <a:r>
              <a:rPr lang="hu-HU" dirty="0"/>
              <a:t>Jellemzői:</a:t>
            </a:r>
          </a:p>
          <a:p>
            <a:pPr lvl="1" algn="just"/>
            <a:r>
              <a:rPr lang="hu-HU" dirty="0"/>
              <a:t>Eseményfigyelők (</a:t>
            </a:r>
            <a:r>
              <a:rPr lang="hu-HU" dirty="0" err="1"/>
              <a:t>event</a:t>
            </a:r>
            <a:r>
              <a:rPr lang="hu-HU" dirty="0"/>
              <a:t> </a:t>
            </a:r>
            <a:r>
              <a:rPr lang="hu-HU" dirty="0" err="1"/>
              <a:t>listeners</a:t>
            </a:r>
            <a:r>
              <a:rPr lang="hu-HU" dirty="0"/>
              <a:t>)</a:t>
            </a:r>
          </a:p>
          <a:p>
            <a:pPr lvl="1" algn="just"/>
            <a:r>
              <a:rPr lang="hu-HU" dirty="0" err="1"/>
              <a:t>Callback</a:t>
            </a:r>
            <a:r>
              <a:rPr lang="hu-HU" dirty="0"/>
              <a:t> függvények</a:t>
            </a:r>
          </a:p>
          <a:p>
            <a:pPr lvl="1" algn="just"/>
            <a:r>
              <a:rPr lang="hu-HU" dirty="0"/>
              <a:t>Eseménykezelő ciklus (</a:t>
            </a:r>
            <a:r>
              <a:rPr lang="hu-HU" dirty="0" err="1"/>
              <a:t>event</a:t>
            </a:r>
            <a:r>
              <a:rPr lang="hu-HU" dirty="0"/>
              <a:t> </a:t>
            </a:r>
            <a:r>
              <a:rPr lang="hu-HU" dirty="0" err="1"/>
              <a:t>loop</a:t>
            </a:r>
            <a:r>
              <a:rPr lang="hu-HU" dirty="0"/>
              <a:t>): folyamatosan figyeli, hogy történt-e esemény, és ha igen, meghívja a megfelelő kezelőt.</a:t>
            </a:r>
          </a:p>
          <a:p>
            <a:pPr lvl="1" algn="just"/>
            <a:endParaRPr lang="hu-HU" dirty="0"/>
          </a:p>
        </p:txBody>
      </p:sp>
      <p:sp>
        <p:nvSpPr>
          <p:cNvPr id="4" name="Nyíl: jobbra mutató 3">
            <a:hlinkClick r:id="rId2" action="ppaction://hlinksldjump"/>
            <a:extLst>
              <a:ext uri="{FF2B5EF4-FFF2-40B4-BE49-F238E27FC236}">
                <a16:creationId xmlns:a16="http://schemas.microsoft.com/office/drawing/2014/main" id="{E887ADCE-4D1B-48B6-B5CF-7EF13E82D633}"/>
              </a:ext>
            </a:extLst>
          </p:cNvPr>
          <p:cNvSpPr/>
          <p:nvPr/>
        </p:nvSpPr>
        <p:spPr>
          <a:xfrm>
            <a:off x="11238613" y="6233890"/>
            <a:ext cx="584791" cy="337031"/>
          </a:xfrm>
          <a:prstGeom prst="rightArrow">
            <a:avLst>
              <a:gd name="adj1" fmla="val 37381"/>
              <a:gd name="adj2" fmla="val 10994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63528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4C02D84-F5A8-44DE-988E-7C03F148D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Keretrendszer fogalma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418C36A-89DA-4EBB-A7E5-9D3B1A647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hu-HU" dirty="0"/>
              <a:t>A keretrendszer egy olyan szoftverkörnyezet, amely </a:t>
            </a:r>
            <a:r>
              <a:rPr lang="hu-HU" b="1" dirty="0"/>
              <a:t>előre definiált komponenseket, szabályokat és eszközöket</a:t>
            </a:r>
            <a:r>
              <a:rPr lang="hu-HU" dirty="0"/>
              <a:t> biztosít, hogy a fejlesztők ne nulláról kezdjék az alkalmazásépítést, hanem egy jól strukturált alapra építkezzenek</a:t>
            </a:r>
          </a:p>
          <a:p>
            <a:pPr algn="just"/>
            <a:r>
              <a:rPr lang="hu-HU" dirty="0"/>
              <a:t>Jellemzői:</a:t>
            </a:r>
          </a:p>
          <a:p>
            <a:pPr lvl="1" algn="just"/>
            <a:r>
              <a:rPr lang="hu-HU" b="1" i="1" dirty="0"/>
              <a:t>„Irányítás megfordítása”</a:t>
            </a:r>
            <a:r>
              <a:rPr lang="hu-HU" i="1" dirty="0"/>
              <a:t>:</a:t>
            </a:r>
            <a:r>
              <a:rPr lang="hu-HU" dirty="0"/>
              <a:t> nem a fejlesztő hívja a keretrendszert, hanem a keretrendszer hívja meg a fejlesztő által írt kódot (pl. kontrollerek, eseménykezelők).</a:t>
            </a:r>
          </a:p>
          <a:p>
            <a:pPr lvl="1" algn="just"/>
            <a:r>
              <a:rPr lang="hu-HU" b="1" i="1" dirty="0"/>
              <a:t>Alapértelmezett viselkedés</a:t>
            </a:r>
            <a:r>
              <a:rPr lang="hu-HU" dirty="0"/>
              <a:t>: 	sok funkció „</a:t>
            </a:r>
            <a:r>
              <a:rPr lang="hu-HU" dirty="0" err="1"/>
              <a:t>gyárilag</a:t>
            </a:r>
            <a:r>
              <a:rPr lang="hu-HU" dirty="0"/>
              <a:t>” működik (pl. </a:t>
            </a:r>
            <a:r>
              <a:rPr lang="hu-HU" dirty="0" err="1"/>
              <a:t>routing</a:t>
            </a:r>
            <a:r>
              <a:rPr lang="hu-HU" dirty="0"/>
              <a:t>, adatbázis kapcsolat), amit felül lehet írni.</a:t>
            </a:r>
          </a:p>
          <a:p>
            <a:pPr lvl="1" algn="just"/>
            <a:r>
              <a:rPr lang="hu-HU" b="1" i="1" dirty="0"/>
              <a:t>Modularitás</a:t>
            </a:r>
            <a:r>
              <a:rPr lang="hu-HU" dirty="0"/>
              <a:t>: különálló modulokból épül fel, amelyek cserélhetők, bővíthetők.</a:t>
            </a:r>
          </a:p>
          <a:p>
            <a:pPr lvl="1" algn="just"/>
            <a:r>
              <a:rPr lang="hu-HU" b="1" i="1" dirty="0"/>
              <a:t>Bővíthetőség</a:t>
            </a:r>
            <a:r>
              <a:rPr lang="hu-HU" dirty="0"/>
              <a:t>:	a fejlesztő saját kódjával kiegészítheti vagy </a:t>
            </a:r>
            <a:r>
              <a:rPr lang="hu-HU" dirty="0" err="1"/>
              <a:t>testreszabbhatja</a:t>
            </a:r>
            <a:r>
              <a:rPr lang="hu-HU" dirty="0"/>
              <a:t> a működést.</a:t>
            </a:r>
          </a:p>
          <a:p>
            <a:pPr lvl="1" algn="just"/>
            <a:r>
              <a:rPr lang="hu-HU" b="1" i="1" dirty="0"/>
              <a:t>Nem módosítható mag</a:t>
            </a:r>
            <a:r>
              <a:rPr lang="hu-HU" dirty="0"/>
              <a:t>: belső működése általában nem módosítható, csak használható és bővíthető.</a:t>
            </a:r>
          </a:p>
          <a:p>
            <a:pPr algn="just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90825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2B0FC4A-7414-4625-8DCB-A8987B321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Miért használjunk keretrendszert?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29F85E6-937D-4EDE-A021-ACDF591D0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2225749"/>
          </a:xfrm>
        </p:spPr>
        <p:txBody>
          <a:bodyPr/>
          <a:lstStyle/>
          <a:p>
            <a:pPr algn="just"/>
            <a:r>
              <a:rPr lang="hu-HU" b="1" i="1" dirty="0"/>
              <a:t>Gyorsítja a fejlesztést</a:t>
            </a:r>
            <a:r>
              <a:rPr lang="hu-HU" dirty="0"/>
              <a:t>: nem kell minden funkciót </a:t>
            </a:r>
            <a:r>
              <a:rPr lang="hu-HU" dirty="0" err="1"/>
              <a:t>újraírni</a:t>
            </a:r>
            <a:r>
              <a:rPr lang="hu-HU" dirty="0"/>
              <a:t> (pl. adatbázis-kezelés, </a:t>
            </a:r>
            <a:r>
              <a:rPr lang="hu-HU" dirty="0" err="1"/>
              <a:t>autentikáció</a:t>
            </a:r>
            <a:r>
              <a:rPr lang="hu-HU" dirty="0"/>
              <a:t>).</a:t>
            </a:r>
          </a:p>
          <a:p>
            <a:pPr algn="just"/>
            <a:r>
              <a:rPr lang="hu-HU" b="1" i="1" dirty="0"/>
              <a:t>Egységes struktúrát ad</a:t>
            </a:r>
            <a:r>
              <a:rPr lang="hu-HU" dirty="0"/>
              <a:t>: könnyebb karbantartani, együtt dolgozni másokkal.</a:t>
            </a:r>
          </a:p>
          <a:p>
            <a:pPr algn="just"/>
            <a:r>
              <a:rPr lang="hu-HU" b="1" i="1" dirty="0"/>
              <a:t>Biztonságosabb</a:t>
            </a:r>
            <a:r>
              <a:rPr lang="hu-HU" dirty="0"/>
              <a:t>: beépített védelmi mechanizmusok</a:t>
            </a:r>
          </a:p>
          <a:p>
            <a:pPr algn="just"/>
            <a:r>
              <a:rPr lang="hu-HU" b="1" i="1" dirty="0"/>
              <a:t>Skálázható</a:t>
            </a:r>
            <a:r>
              <a:rPr lang="hu-HU" dirty="0"/>
              <a:t>: nagyobb projektekhez is jól alkalmazható.</a:t>
            </a:r>
          </a:p>
          <a:p>
            <a:endParaRPr lang="hu-HU" dirty="0"/>
          </a:p>
        </p:txBody>
      </p:sp>
      <p:sp>
        <p:nvSpPr>
          <p:cNvPr id="4" name="Nyíl: jobbra mutató 3">
            <a:hlinkClick r:id="rId2" action="ppaction://hlinksldjump"/>
            <a:extLst>
              <a:ext uri="{FF2B5EF4-FFF2-40B4-BE49-F238E27FC236}">
                <a16:creationId xmlns:a16="http://schemas.microsoft.com/office/drawing/2014/main" id="{022CDF39-4FBE-44C4-9AED-7EC39E6820A7}"/>
              </a:ext>
            </a:extLst>
          </p:cNvPr>
          <p:cNvSpPr/>
          <p:nvPr/>
        </p:nvSpPr>
        <p:spPr>
          <a:xfrm>
            <a:off x="11238614" y="6233890"/>
            <a:ext cx="574158" cy="337031"/>
          </a:xfrm>
          <a:prstGeom prst="rightArrow">
            <a:avLst>
              <a:gd name="adj1" fmla="val 37381"/>
              <a:gd name="adj2" fmla="val 10994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19099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E184D79-E7FC-443F-956E-878A8F9D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62430"/>
          </a:xfrm>
        </p:spPr>
        <p:txBody>
          <a:bodyPr/>
          <a:lstStyle/>
          <a:p>
            <a:r>
              <a:rPr lang="hu-HU" dirty="0"/>
              <a:t>EXPRESS.JS keretrendszer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3FE25B7-997E-43EE-BDB7-135174487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14130"/>
            <a:ext cx="8915400" cy="4819760"/>
          </a:xfrm>
        </p:spPr>
        <p:txBody>
          <a:bodyPr>
            <a:normAutofit/>
          </a:bodyPr>
          <a:lstStyle/>
          <a:p>
            <a:pPr algn="just"/>
            <a:r>
              <a:rPr lang="hu-HU" dirty="0"/>
              <a:t>Az Express.js egy </a:t>
            </a:r>
            <a:r>
              <a:rPr lang="hu-HU" b="1" dirty="0"/>
              <a:t>minimalista és rugalmas webes </a:t>
            </a:r>
            <a:r>
              <a:rPr lang="hu-HU" dirty="0"/>
              <a:t>keretrendszer, amelyet a Node.js környezethez fejlesztettek ki.</a:t>
            </a:r>
          </a:p>
          <a:p>
            <a:pPr algn="just"/>
            <a:r>
              <a:rPr lang="hu-HU" dirty="0"/>
              <a:t>Kifejezetten szerveroldali webalkalmazások és REST API-k készítésére szolgál. A fejlesztők körében rendkívül népszerű, mert gyorsan tanulható, jól dokumentált, és rengeteg bővítménnyel </a:t>
            </a:r>
            <a:r>
              <a:rPr lang="hu-HU" dirty="0" err="1"/>
              <a:t>testreszabható</a:t>
            </a:r>
            <a:r>
              <a:rPr lang="hu-HU" dirty="0"/>
              <a:t>.</a:t>
            </a:r>
          </a:p>
          <a:p>
            <a:pPr algn="just"/>
            <a:r>
              <a:rPr lang="hu-HU" dirty="0"/>
              <a:t>Jellemzői:</a:t>
            </a:r>
          </a:p>
          <a:p>
            <a:pPr lvl="1" algn="just"/>
            <a:r>
              <a:rPr lang="hu-HU" b="1" dirty="0"/>
              <a:t>Backend</a:t>
            </a:r>
            <a:r>
              <a:rPr lang="hu-HU" dirty="0"/>
              <a:t> keretrendszer</a:t>
            </a:r>
          </a:p>
          <a:p>
            <a:pPr lvl="1" algn="just"/>
            <a:r>
              <a:rPr lang="hu-HU" b="1" dirty="0"/>
              <a:t>Minimalista</a:t>
            </a:r>
            <a:r>
              <a:rPr lang="hu-HU" dirty="0"/>
              <a:t>, nem véleményes (azaz nem írja elő, hogyan építsd fel az alkalmazást)</a:t>
            </a:r>
          </a:p>
          <a:p>
            <a:pPr lvl="1" algn="just"/>
            <a:r>
              <a:rPr lang="hu-HU" b="1" dirty="0" err="1"/>
              <a:t>Middleware</a:t>
            </a:r>
            <a:r>
              <a:rPr lang="hu-HU" b="1" dirty="0"/>
              <a:t>-alapú</a:t>
            </a:r>
            <a:r>
              <a:rPr lang="hu-HU" dirty="0"/>
              <a:t> (a kérések feldolgozása rétegeken keresztül történik)</a:t>
            </a:r>
          </a:p>
          <a:p>
            <a:pPr lvl="1" algn="just"/>
            <a:r>
              <a:rPr lang="hu-HU" b="1" dirty="0"/>
              <a:t>REST API</a:t>
            </a:r>
            <a:r>
              <a:rPr lang="hu-HU" dirty="0"/>
              <a:t>-</a:t>
            </a:r>
            <a:r>
              <a:rPr lang="hu-HU" dirty="0" err="1"/>
              <a:t>khoz</a:t>
            </a:r>
            <a:r>
              <a:rPr lang="hu-HU" dirty="0"/>
              <a:t> és SSR-</a:t>
            </a:r>
            <a:r>
              <a:rPr lang="hu-HU" dirty="0" err="1"/>
              <a:t>hez</a:t>
            </a:r>
            <a:r>
              <a:rPr lang="hu-HU" dirty="0"/>
              <a:t> is alkalmas</a:t>
            </a:r>
          </a:p>
        </p:txBody>
      </p:sp>
    </p:spTree>
    <p:extLst>
      <p:ext uri="{BB962C8B-B14F-4D97-AF65-F5344CB8AC3E}">
        <p14:creationId xmlns:p14="http://schemas.microsoft.com/office/powerpoint/2010/main" val="2128981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FD3381-5961-404B-B944-B0B63E685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77542"/>
            <a:ext cx="8911687" cy="715592"/>
          </a:xfrm>
        </p:spPr>
        <p:txBody>
          <a:bodyPr/>
          <a:lstStyle/>
          <a:p>
            <a:r>
              <a:rPr lang="hu-HU" dirty="0"/>
              <a:t>EXPRESS.JS keretrendszer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4C11E27-9A23-47AA-B2B5-F1A40B3AD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893134"/>
            <a:ext cx="8915400" cy="5624625"/>
          </a:xfrm>
        </p:spPr>
        <p:txBody>
          <a:bodyPr>
            <a:normAutofit lnSpcReduction="10000"/>
          </a:bodyPr>
          <a:lstStyle/>
          <a:p>
            <a:r>
              <a:rPr lang="hu-HU" dirty="0"/>
              <a:t>Jellemzői:</a:t>
            </a:r>
          </a:p>
          <a:p>
            <a:pPr lvl="1"/>
            <a:r>
              <a:rPr lang="hu-HU" b="1" dirty="0" err="1"/>
              <a:t>Route</a:t>
            </a:r>
            <a:r>
              <a:rPr lang="hu-HU" b="1" dirty="0"/>
              <a:t>-kezelés</a:t>
            </a:r>
          </a:p>
          <a:p>
            <a:pPr lvl="2"/>
            <a:r>
              <a:rPr lang="hu-HU" dirty="0"/>
              <a:t>könnyen definiálható útvonalak (GET, POST, PUT, DELETE)</a:t>
            </a:r>
          </a:p>
          <a:p>
            <a:pPr lvl="2"/>
            <a:r>
              <a:rPr lang="hu-HU" dirty="0"/>
              <a:t>Paraméterek és </a:t>
            </a:r>
            <a:r>
              <a:rPr lang="hu-HU" dirty="0" err="1"/>
              <a:t>query</a:t>
            </a:r>
            <a:r>
              <a:rPr lang="hu-HU" dirty="0"/>
              <a:t>-k egyszerű kezelése</a:t>
            </a:r>
          </a:p>
          <a:p>
            <a:pPr lvl="1"/>
            <a:r>
              <a:rPr lang="hu-HU" b="1" dirty="0" err="1"/>
              <a:t>Middleware</a:t>
            </a:r>
            <a:r>
              <a:rPr lang="hu-HU" b="1" dirty="0"/>
              <a:t> támogatás</a:t>
            </a:r>
          </a:p>
          <a:p>
            <a:pPr lvl="2"/>
            <a:r>
              <a:rPr lang="hu-HU" dirty="0"/>
              <a:t>Köztes függvények, amelyek feldolgozzák a kéréseket</a:t>
            </a:r>
          </a:p>
          <a:p>
            <a:pPr lvl="3"/>
            <a:r>
              <a:rPr lang="hu-HU" dirty="0"/>
              <a:t>Például: </a:t>
            </a:r>
            <a:r>
              <a:rPr lang="hu-HU" dirty="0" err="1"/>
              <a:t>autentikáció</a:t>
            </a:r>
            <a:r>
              <a:rPr lang="hu-HU" dirty="0"/>
              <a:t>, naplózás, JSON parsing</a:t>
            </a:r>
          </a:p>
          <a:p>
            <a:pPr lvl="1"/>
            <a:r>
              <a:rPr lang="hu-HU" b="1" dirty="0"/>
              <a:t>Modularitás</a:t>
            </a:r>
          </a:p>
          <a:p>
            <a:pPr lvl="2"/>
            <a:r>
              <a:rPr lang="hu-HU" dirty="0"/>
              <a:t>Könnyen szétbontható </a:t>
            </a:r>
            <a:r>
              <a:rPr lang="hu-HU" dirty="0" err="1"/>
              <a:t>route</a:t>
            </a:r>
            <a:r>
              <a:rPr lang="hu-HU" dirty="0"/>
              <a:t>-ok, kontrollerek, service-ek külön fájlokba</a:t>
            </a:r>
          </a:p>
          <a:p>
            <a:pPr lvl="2"/>
            <a:r>
              <a:rPr lang="hu-HU" dirty="0"/>
              <a:t>Támogatja az MVC architektúrát</a:t>
            </a:r>
          </a:p>
          <a:p>
            <a:pPr lvl="1"/>
            <a:r>
              <a:rPr lang="hu-HU" b="1" dirty="0"/>
              <a:t>Gyors és könnyű</a:t>
            </a:r>
          </a:p>
          <a:p>
            <a:pPr lvl="2"/>
            <a:r>
              <a:rPr lang="hu-HU" dirty="0"/>
              <a:t>Minimális mag, amit te bővítesz</a:t>
            </a:r>
          </a:p>
          <a:p>
            <a:pPr lvl="2"/>
            <a:r>
              <a:rPr lang="hu-HU" dirty="0"/>
              <a:t>Nem tartalmaz beépített </a:t>
            </a:r>
            <a:r>
              <a:rPr lang="hu-HU" b="1" dirty="0"/>
              <a:t>ORM-</a:t>
            </a:r>
            <a:r>
              <a:rPr lang="hu-HU" b="1" dirty="0" err="1"/>
              <a:t>et</a:t>
            </a:r>
            <a:r>
              <a:rPr lang="hu-HU" dirty="0"/>
              <a:t>, sablonmotort vagy adatbázis-kezelőt — te választod ki, mit használsz</a:t>
            </a:r>
          </a:p>
          <a:p>
            <a:pPr lvl="1"/>
            <a:r>
              <a:rPr lang="hu-HU" b="1" dirty="0"/>
              <a:t>Skálázhatóság és bővíthetőség</a:t>
            </a:r>
          </a:p>
          <a:p>
            <a:pPr lvl="2"/>
            <a:r>
              <a:rPr lang="hu-HU" dirty="0"/>
              <a:t>Rengeteg </a:t>
            </a:r>
            <a:r>
              <a:rPr lang="hu-HU" dirty="0">
                <a:hlinkClick r:id="rId2" action="ppaction://hlinksldjump"/>
              </a:rPr>
              <a:t>NPM</a:t>
            </a:r>
            <a:r>
              <a:rPr lang="hu-HU" dirty="0"/>
              <a:t> csomag elérhető hozzá</a:t>
            </a:r>
          </a:p>
          <a:p>
            <a:pPr lvl="2"/>
            <a:r>
              <a:rPr lang="hu-HU" dirty="0"/>
              <a:t>Nagyobb alkalmazásokhoz is jól használható, ha strukturáltan építed fel</a:t>
            </a:r>
          </a:p>
          <a:p>
            <a:pPr lvl="1"/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</p:txBody>
      </p:sp>
      <p:sp>
        <p:nvSpPr>
          <p:cNvPr id="6" name="Nyíl: jobbra mutató 5">
            <a:hlinkClick r:id="rId3" action="ppaction://hlinksldjump"/>
            <a:extLst>
              <a:ext uri="{FF2B5EF4-FFF2-40B4-BE49-F238E27FC236}">
                <a16:creationId xmlns:a16="http://schemas.microsoft.com/office/drawing/2014/main" id="{7BCE2217-A852-4973-9FCD-95617FAE2B26}"/>
              </a:ext>
            </a:extLst>
          </p:cNvPr>
          <p:cNvSpPr/>
          <p:nvPr/>
        </p:nvSpPr>
        <p:spPr>
          <a:xfrm>
            <a:off x="11238614" y="6233890"/>
            <a:ext cx="574158" cy="337031"/>
          </a:xfrm>
          <a:prstGeom prst="rightArrow">
            <a:avLst>
              <a:gd name="adj1" fmla="val 37381"/>
              <a:gd name="adj2" fmla="val 10994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06786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FE6B8B6-B651-438E-8BD2-5576E5E57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NPM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A794D06-9A1E-45FC-B73A-D717026ED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hu-HU" dirty="0"/>
              <a:t>Az NPM (</a:t>
            </a:r>
            <a:r>
              <a:rPr lang="hu-HU" dirty="0" err="1"/>
              <a:t>Node</a:t>
            </a:r>
            <a:r>
              <a:rPr lang="hu-HU" dirty="0"/>
              <a:t> </a:t>
            </a:r>
            <a:r>
              <a:rPr lang="hu-HU" dirty="0" err="1"/>
              <a:t>Package</a:t>
            </a:r>
            <a:r>
              <a:rPr lang="hu-HU" dirty="0"/>
              <a:t> Manager) a Node.js csomagkezelője. Segítségével külső könyvtárakat (pl. Express) tudunk telepíteni, frissíteni, és kezelni a projekt függőségeit.</a:t>
            </a:r>
          </a:p>
          <a:p>
            <a:r>
              <a:rPr lang="hu-HU" dirty="0"/>
              <a:t>Fontos fájl: </a:t>
            </a:r>
            <a:r>
              <a:rPr lang="hu-HU" b="1" i="1" dirty="0" err="1"/>
              <a:t>package.json</a:t>
            </a:r>
            <a:r>
              <a:rPr lang="hu-HU" b="1" i="1" dirty="0"/>
              <a:t>, </a:t>
            </a:r>
            <a:r>
              <a:rPr lang="hu-HU" dirty="0"/>
              <a:t>amely tartalmazza:</a:t>
            </a:r>
          </a:p>
          <a:p>
            <a:pPr lvl="1"/>
            <a:r>
              <a:rPr lang="hu-HU" dirty="0"/>
              <a:t>a projekt nevét, verzióját,</a:t>
            </a:r>
          </a:p>
          <a:p>
            <a:pPr lvl="1"/>
            <a:r>
              <a:rPr lang="hu-HU" dirty="0"/>
              <a:t>a telepített csomagokat,</a:t>
            </a:r>
          </a:p>
          <a:p>
            <a:pPr lvl="1"/>
            <a:r>
              <a:rPr lang="hu-HU" dirty="0"/>
              <a:t>futtatási parancsokat (</a:t>
            </a:r>
            <a:r>
              <a:rPr lang="hu-HU" dirty="0" err="1"/>
              <a:t>scripts</a:t>
            </a:r>
            <a:r>
              <a:rPr lang="hu-HU" dirty="0"/>
              <a:t>).</a:t>
            </a:r>
          </a:p>
          <a:p>
            <a:endParaRPr lang="hu-HU" dirty="0"/>
          </a:p>
        </p:txBody>
      </p:sp>
      <p:sp>
        <p:nvSpPr>
          <p:cNvPr id="5" name="Nyíl: jobbra mutató 4">
            <a:hlinkClick r:id="rId2" action="ppaction://hlinksldjump"/>
            <a:extLst>
              <a:ext uri="{FF2B5EF4-FFF2-40B4-BE49-F238E27FC236}">
                <a16:creationId xmlns:a16="http://schemas.microsoft.com/office/drawing/2014/main" id="{3124C9C6-CDE3-4771-A61E-E06BF485BC91}"/>
              </a:ext>
            </a:extLst>
          </p:cNvPr>
          <p:cNvSpPr/>
          <p:nvPr/>
        </p:nvSpPr>
        <p:spPr>
          <a:xfrm>
            <a:off x="11238614" y="6233890"/>
            <a:ext cx="574158" cy="337031"/>
          </a:xfrm>
          <a:prstGeom prst="rightArrow">
            <a:avLst>
              <a:gd name="adj1" fmla="val 37381"/>
              <a:gd name="adj2" fmla="val 10994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095490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AAA477-3380-4396-8617-BE75802F2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BACKEND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49E0C42-85F9-4AAD-8F44-E510B329C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46028"/>
            <a:ext cx="8915400" cy="4787862"/>
          </a:xfrm>
        </p:spPr>
        <p:txBody>
          <a:bodyPr>
            <a:normAutofit fontScale="92500" lnSpcReduction="10000"/>
          </a:bodyPr>
          <a:lstStyle/>
          <a:p>
            <a:r>
              <a:rPr lang="hu-HU" sz="2100" u="sng" dirty="0"/>
              <a:t>Adatbázisok</a:t>
            </a:r>
            <a:r>
              <a:rPr lang="hu-HU" b="1" dirty="0"/>
              <a:t>:</a:t>
            </a:r>
          </a:p>
          <a:p>
            <a:r>
              <a:rPr lang="hu-HU" b="1" dirty="0"/>
              <a:t>SQL (Relációs adatbázisok)</a:t>
            </a:r>
          </a:p>
          <a:p>
            <a:pPr lvl="1" algn="just"/>
            <a:r>
              <a:rPr lang="hu-HU" dirty="0"/>
              <a:t>Ezek az adatbázisok </a:t>
            </a:r>
            <a:r>
              <a:rPr lang="hu-HU" b="1" dirty="0"/>
              <a:t>táblázatos formában</a:t>
            </a:r>
            <a:r>
              <a:rPr lang="hu-HU" dirty="0"/>
              <a:t> tárolják az adatokat, </a:t>
            </a:r>
            <a:r>
              <a:rPr lang="hu-HU" b="1" dirty="0"/>
              <a:t>fix sémával</a:t>
            </a:r>
            <a:r>
              <a:rPr lang="hu-HU" dirty="0"/>
              <a:t>, és </a:t>
            </a:r>
            <a:r>
              <a:rPr lang="hu-HU" b="1" dirty="0"/>
              <a:t>SQL nyelvet</a:t>
            </a:r>
            <a:r>
              <a:rPr lang="hu-HU" dirty="0"/>
              <a:t> használnak lekérdezésekhez.</a:t>
            </a:r>
          </a:p>
          <a:p>
            <a:r>
              <a:rPr lang="hu-HU" dirty="0"/>
              <a:t>Példák:</a:t>
            </a:r>
          </a:p>
          <a:p>
            <a:pPr lvl="1"/>
            <a:r>
              <a:rPr lang="hu-HU" b="1" dirty="0" err="1"/>
              <a:t>PostgreSQL</a:t>
            </a:r>
            <a:r>
              <a:rPr lang="hu-HU" dirty="0"/>
              <a:t> – nyílt forráskódú, fejlett relációs adatbázis, támogatja az összetett lekérdezéseket, relációkat, tranzakciókat.</a:t>
            </a:r>
          </a:p>
          <a:p>
            <a:pPr lvl="1"/>
            <a:r>
              <a:rPr lang="hu-HU" b="1" dirty="0" err="1"/>
              <a:t>MySQL</a:t>
            </a:r>
            <a:r>
              <a:rPr lang="hu-HU" dirty="0"/>
              <a:t> – szintén nyílt forráskódú, gyors és népszerű adatbázis, gyakran használják webalkalmazásokhoz.</a:t>
            </a:r>
          </a:p>
          <a:p>
            <a:pPr lvl="1"/>
            <a:r>
              <a:rPr lang="hu-HU" dirty="0"/>
              <a:t>(További példák: Microsoft SQL Server, Oracle </a:t>
            </a:r>
            <a:r>
              <a:rPr lang="hu-HU" dirty="0" err="1"/>
              <a:t>Database</a:t>
            </a:r>
            <a:r>
              <a:rPr lang="hu-HU" dirty="0"/>
              <a:t>)</a:t>
            </a:r>
          </a:p>
          <a:p>
            <a:r>
              <a:rPr lang="hu-HU" dirty="0"/>
              <a:t>Jellemzők</a:t>
            </a:r>
            <a:r>
              <a:rPr lang="hu-HU" b="1" dirty="0"/>
              <a:t>:</a:t>
            </a:r>
            <a:endParaRPr lang="hu-HU" dirty="0"/>
          </a:p>
          <a:p>
            <a:pPr lvl="1"/>
            <a:r>
              <a:rPr lang="hu-HU" dirty="0"/>
              <a:t>Táblák, sorok, oszlopok</a:t>
            </a:r>
          </a:p>
          <a:p>
            <a:pPr lvl="1"/>
            <a:r>
              <a:rPr lang="hu-HU" dirty="0"/>
              <a:t>Kapcsolatok (1:1, 1:N, N:M kapcsolótáblával)</a:t>
            </a:r>
          </a:p>
          <a:p>
            <a:pPr lvl="1"/>
            <a:r>
              <a:rPr lang="hu-HU" dirty="0">
                <a:hlinkClick r:id="rId2" action="ppaction://hlinksldjump"/>
              </a:rPr>
              <a:t>ACID tranzakciók</a:t>
            </a:r>
            <a:endParaRPr lang="hu-HU" dirty="0"/>
          </a:p>
          <a:p>
            <a:pPr lvl="1"/>
            <a:r>
              <a:rPr lang="hu-HU" dirty="0"/>
              <a:t>Szigorú adatstruktúra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16278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4370BBB-AA6A-466E-A266-97B86C280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51797"/>
          </a:xfrm>
        </p:spPr>
        <p:txBody>
          <a:bodyPr>
            <a:normAutofit fontScale="90000"/>
          </a:bodyPr>
          <a:lstStyle/>
          <a:p>
            <a:r>
              <a:rPr lang="hu-HU" dirty="0"/>
              <a:t>ACID tranzakciók</a:t>
            </a:r>
            <a:br>
              <a:rPr lang="hu-HU" dirty="0"/>
            </a:br>
            <a:endParaRPr lang="hu-HU" dirty="0"/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EDC82690-7C74-4C4B-B80C-6CC9BA7C24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5843368"/>
              </p:ext>
            </p:extLst>
          </p:nvPr>
        </p:nvGraphicFramePr>
        <p:xfrm>
          <a:off x="1509823" y="1276350"/>
          <a:ext cx="9803220" cy="271260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701210">
                  <a:extLst>
                    <a:ext uri="{9D8B030D-6E8A-4147-A177-3AD203B41FA5}">
                      <a16:colId xmlns:a16="http://schemas.microsoft.com/office/drawing/2014/main" val="881403534"/>
                    </a:ext>
                  </a:extLst>
                </a:gridCol>
                <a:gridCol w="1648046">
                  <a:extLst>
                    <a:ext uri="{9D8B030D-6E8A-4147-A177-3AD203B41FA5}">
                      <a16:colId xmlns:a16="http://schemas.microsoft.com/office/drawing/2014/main" val="491352965"/>
                    </a:ext>
                  </a:extLst>
                </a:gridCol>
                <a:gridCol w="6453964">
                  <a:extLst>
                    <a:ext uri="{9D8B030D-6E8A-4147-A177-3AD203B41FA5}">
                      <a16:colId xmlns:a16="http://schemas.microsoft.com/office/drawing/2014/main" val="3935096860"/>
                    </a:ext>
                  </a:extLst>
                </a:gridCol>
              </a:tblGrid>
              <a:tr h="659108">
                <a:tc>
                  <a:txBody>
                    <a:bodyPr/>
                    <a:lstStyle/>
                    <a:p>
                      <a:r>
                        <a:rPr lang="hu-HU" sz="1400" dirty="0"/>
                        <a:t>A – Atomicity</a:t>
                      </a:r>
                    </a:p>
                  </a:txBody>
                  <a:tcPr marL="57116" marR="57116" marT="28558" marB="28558" anchor="ctr"/>
                </a:tc>
                <a:tc>
                  <a:txBody>
                    <a:bodyPr/>
                    <a:lstStyle/>
                    <a:p>
                      <a:r>
                        <a:rPr lang="hu-HU" sz="1400" dirty="0" err="1"/>
                        <a:t>Atomosság</a:t>
                      </a:r>
                      <a:endParaRPr lang="hu-HU" sz="1400" dirty="0"/>
                    </a:p>
                  </a:txBody>
                  <a:tcPr marL="57116" marR="57116" marT="28558" marB="2855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hu-HU" sz="1400" dirty="0"/>
                        <a:t>Egy tranzakció vagy teljes egészében </a:t>
                      </a:r>
                      <a:r>
                        <a:rPr lang="hu-HU" sz="1400" dirty="0" err="1"/>
                        <a:t>végrehajtódik</a:t>
                      </a:r>
                      <a:r>
                        <a:rPr lang="hu-HU" sz="1400" dirty="0"/>
                        <a:t>, vagy egyáltalán nem. Nincs „félig sikerült” állapot. Ha hiba történik, minden változás visszavonásra kerül.</a:t>
                      </a:r>
                    </a:p>
                  </a:txBody>
                  <a:tcPr marL="57116" marR="57116" marT="28558" marB="28558" anchor="ctr"/>
                </a:tc>
                <a:extLst>
                  <a:ext uri="{0D108BD9-81ED-4DB2-BD59-A6C34878D82A}">
                    <a16:rowId xmlns:a16="http://schemas.microsoft.com/office/drawing/2014/main" val="2467813366"/>
                  </a:ext>
                </a:extLst>
              </a:tr>
              <a:tr h="659108">
                <a:tc>
                  <a:txBody>
                    <a:bodyPr/>
                    <a:lstStyle/>
                    <a:p>
                      <a:r>
                        <a:rPr lang="hu-HU" sz="1400" dirty="0"/>
                        <a:t>C – </a:t>
                      </a:r>
                      <a:r>
                        <a:rPr lang="hu-HU" sz="1400" dirty="0" err="1"/>
                        <a:t>Consistency</a:t>
                      </a:r>
                      <a:endParaRPr lang="hu-HU" sz="1400" dirty="0"/>
                    </a:p>
                  </a:txBody>
                  <a:tcPr marL="57116" marR="57116" marT="28558" marB="28558" anchor="ctr"/>
                </a:tc>
                <a:tc>
                  <a:txBody>
                    <a:bodyPr/>
                    <a:lstStyle/>
                    <a:p>
                      <a:r>
                        <a:rPr lang="hu-HU" sz="1400" dirty="0"/>
                        <a:t>Konzisztencia</a:t>
                      </a:r>
                    </a:p>
                  </a:txBody>
                  <a:tcPr marL="57116" marR="57116" marT="28558" marB="2855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hu-HU" sz="1400" dirty="0"/>
                        <a:t>A tranzakció után az adatbázis mindig érvényes állapotban marad. Nem sérülnek meg az integritási szabályok (pl. idegen kulcs, egyedi értékek).</a:t>
                      </a:r>
                    </a:p>
                  </a:txBody>
                  <a:tcPr marL="57116" marR="57116" marT="28558" marB="28558" anchor="ctr"/>
                </a:tc>
                <a:extLst>
                  <a:ext uri="{0D108BD9-81ED-4DB2-BD59-A6C34878D82A}">
                    <a16:rowId xmlns:a16="http://schemas.microsoft.com/office/drawing/2014/main" val="3411702205"/>
                  </a:ext>
                </a:extLst>
              </a:tr>
              <a:tr h="659108">
                <a:tc>
                  <a:txBody>
                    <a:bodyPr/>
                    <a:lstStyle/>
                    <a:p>
                      <a:r>
                        <a:rPr lang="hu-HU" sz="1400"/>
                        <a:t>I – Isolation</a:t>
                      </a:r>
                    </a:p>
                  </a:txBody>
                  <a:tcPr marL="57116" marR="57116" marT="28558" marB="28558" anchor="ctr"/>
                </a:tc>
                <a:tc>
                  <a:txBody>
                    <a:bodyPr/>
                    <a:lstStyle/>
                    <a:p>
                      <a:r>
                        <a:rPr lang="hu-HU" sz="1400"/>
                        <a:t>Elkülönítés</a:t>
                      </a:r>
                    </a:p>
                  </a:txBody>
                  <a:tcPr marL="57116" marR="57116" marT="28558" marB="2855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hu-HU" sz="1400" dirty="0"/>
                        <a:t>Több tranzakció párhuzamosan is futhat, de nem zavarják egymást. Úgy kell viselkedniük, mintha egymás után </a:t>
                      </a:r>
                      <a:r>
                        <a:rPr lang="hu-HU" sz="1400" dirty="0" err="1"/>
                        <a:t>hajtódtak</a:t>
                      </a:r>
                      <a:r>
                        <a:rPr lang="hu-HU" sz="1400" dirty="0"/>
                        <a:t> volna végre.</a:t>
                      </a:r>
                    </a:p>
                  </a:txBody>
                  <a:tcPr marL="57116" marR="57116" marT="28558" marB="28558" anchor="ctr"/>
                </a:tc>
                <a:extLst>
                  <a:ext uri="{0D108BD9-81ED-4DB2-BD59-A6C34878D82A}">
                    <a16:rowId xmlns:a16="http://schemas.microsoft.com/office/drawing/2014/main" val="1408204282"/>
                  </a:ext>
                </a:extLst>
              </a:tr>
              <a:tr h="659108">
                <a:tc>
                  <a:txBody>
                    <a:bodyPr/>
                    <a:lstStyle/>
                    <a:p>
                      <a:r>
                        <a:rPr lang="hu-HU" sz="1400"/>
                        <a:t>D – Durability</a:t>
                      </a:r>
                    </a:p>
                  </a:txBody>
                  <a:tcPr marL="57116" marR="57116" marT="28558" marB="28558" anchor="ctr"/>
                </a:tc>
                <a:tc>
                  <a:txBody>
                    <a:bodyPr/>
                    <a:lstStyle/>
                    <a:p>
                      <a:r>
                        <a:rPr lang="hu-HU" sz="1400"/>
                        <a:t>Tartósság</a:t>
                      </a:r>
                    </a:p>
                  </a:txBody>
                  <a:tcPr marL="57116" marR="57116" marT="28558" marB="28558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hu-HU" sz="1400" dirty="0"/>
                        <a:t>Ha egy tranzakció sikeresen befejeződik, annak hatásai véglegesen megmaradnak, még rendszerhiba esetén is (pl. áramkimaradás után is ott lesz az adat).</a:t>
                      </a:r>
                    </a:p>
                  </a:txBody>
                  <a:tcPr marL="57116" marR="57116" marT="28558" marB="28558" anchor="ctr"/>
                </a:tc>
                <a:extLst>
                  <a:ext uri="{0D108BD9-81ED-4DB2-BD59-A6C34878D82A}">
                    <a16:rowId xmlns:a16="http://schemas.microsoft.com/office/drawing/2014/main" val="1680062344"/>
                  </a:ext>
                </a:extLst>
              </a:tr>
            </a:tbl>
          </a:graphicData>
        </a:graphic>
      </p:graphicFrame>
      <p:sp>
        <p:nvSpPr>
          <p:cNvPr id="5" name="Tartalom helye 2">
            <a:extLst>
              <a:ext uri="{FF2B5EF4-FFF2-40B4-BE49-F238E27FC236}">
                <a16:creationId xmlns:a16="http://schemas.microsoft.com/office/drawing/2014/main" id="{879BEA11-EF14-4885-A4D2-458E8E60AE81}"/>
              </a:ext>
            </a:extLst>
          </p:cNvPr>
          <p:cNvSpPr txBox="1">
            <a:spLocks/>
          </p:cNvSpPr>
          <p:nvPr/>
        </p:nvSpPr>
        <p:spPr>
          <a:xfrm>
            <a:off x="1509822" y="4270744"/>
            <a:ext cx="9803221" cy="222574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u-HU" dirty="0"/>
              <a:t>Példa: </a:t>
            </a:r>
            <a:r>
              <a:rPr lang="hu-HU" i="1" dirty="0"/>
              <a:t>Pénzátutalás</a:t>
            </a:r>
            <a:r>
              <a:rPr lang="hu-HU" dirty="0"/>
              <a:t>: 1000 Ft-ot utalsz át az egyik számláról a másikra:</a:t>
            </a:r>
          </a:p>
          <a:p>
            <a:r>
              <a:rPr lang="hu-HU" b="1" dirty="0"/>
              <a:t>Atomicity</a:t>
            </a:r>
            <a:r>
              <a:rPr lang="hu-HU" dirty="0"/>
              <a:t>: ha a pénz levonása sikerül, de a másik számlára nem érkezik meg, akkor az egész tranzakció visszavonásra kerül.</a:t>
            </a:r>
          </a:p>
          <a:p>
            <a:r>
              <a:rPr lang="hu-HU" b="1" dirty="0" err="1"/>
              <a:t>Consistency</a:t>
            </a:r>
            <a:r>
              <a:rPr lang="hu-HU" dirty="0"/>
              <a:t>: a tranzakció előtt és után a teljes pénzmennyiség ugyanannyi marad.</a:t>
            </a:r>
          </a:p>
          <a:p>
            <a:r>
              <a:rPr lang="hu-HU" b="1" dirty="0" err="1"/>
              <a:t>Isolation</a:t>
            </a:r>
            <a:r>
              <a:rPr lang="hu-HU" dirty="0"/>
              <a:t>: ha egy másik tranzakció is fut, az nem láthatja a félkész állapotot.</a:t>
            </a:r>
          </a:p>
          <a:p>
            <a:r>
              <a:rPr lang="hu-HU" b="1" dirty="0" err="1"/>
              <a:t>Durability</a:t>
            </a:r>
            <a:r>
              <a:rPr lang="hu-HU" dirty="0"/>
              <a:t>: ha az utalás sikeres, akkor az adatbázisban véglegesen rögzül, még akkor is, ha utána leáll a rendszer.</a:t>
            </a:r>
          </a:p>
          <a:p>
            <a:endParaRPr lang="hu-HU" dirty="0"/>
          </a:p>
        </p:txBody>
      </p:sp>
      <p:sp>
        <p:nvSpPr>
          <p:cNvPr id="6" name="Nyíl: jobbra mutató 5">
            <a:hlinkClick r:id="rId2" action="ppaction://hlinksldjump"/>
            <a:extLst>
              <a:ext uri="{FF2B5EF4-FFF2-40B4-BE49-F238E27FC236}">
                <a16:creationId xmlns:a16="http://schemas.microsoft.com/office/drawing/2014/main" id="{06FF4248-6AA4-4360-BFEE-772E16E7B80C}"/>
              </a:ext>
            </a:extLst>
          </p:cNvPr>
          <p:cNvSpPr/>
          <p:nvPr/>
        </p:nvSpPr>
        <p:spPr>
          <a:xfrm>
            <a:off x="11238614" y="6233890"/>
            <a:ext cx="574158" cy="337031"/>
          </a:xfrm>
          <a:prstGeom prst="rightArrow">
            <a:avLst>
              <a:gd name="adj1" fmla="val 37381"/>
              <a:gd name="adj2" fmla="val 10994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74926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AA57E6-A07B-4783-9F2B-B26D3EBA2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BACKEND technológiák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D8E713F-D20E-45C4-947D-9653FBCE3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88558"/>
            <a:ext cx="8915400" cy="4745332"/>
          </a:xfrm>
        </p:spPr>
        <p:txBody>
          <a:bodyPr>
            <a:normAutofit lnSpcReduction="10000"/>
          </a:bodyPr>
          <a:lstStyle/>
          <a:p>
            <a:r>
              <a:rPr lang="hu-HU" b="1" dirty="0" err="1"/>
              <a:t>NoSQL</a:t>
            </a:r>
            <a:r>
              <a:rPr lang="hu-HU" b="1" dirty="0"/>
              <a:t> (Nem relációs adatbázisok)</a:t>
            </a:r>
          </a:p>
          <a:p>
            <a:pPr lvl="1"/>
            <a:r>
              <a:rPr lang="hu-HU" dirty="0"/>
              <a:t>Ezek az adatbázisok </a:t>
            </a:r>
            <a:r>
              <a:rPr lang="hu-HU" b="1" dirty="0"/>
              <a:t>rugalmasabb adattárolást</a:t>
            </a:r>
            <a:r>
              <a:rPr lang="hu-HU" dirty="0"/>
              <a:t> kínálnak, nem használnak táblákat, és </a:t>
            </a:r>
            <a:r>
              <a:rPr lang="hu-HU" b="1" dirty="0"/>
              <a:t>nem igényelnek előre definiált sémát</a:t>
            </a:r>
            <a:r>
              <a:rPr lang="hu-HU" dirty="0"/>
              <a:t>.</a:t>
            </a:r>
          </a:p>
          <a:p>
            <a:r>
              <a:rPr lang="hu-HU" dirty="0"/>
              <a:t>Példák</a:t>
            </a:r>
            <a:r>
              <a:rPr lang="hu-HU" b="1" dirty="0"/>
              <a:t>:</a:t>
            </a:r>
            <a:endParaRPr lang="hu-HU" dirty="0"/>
          </a:p>
          <a:p>
            <a:pPr lvl="1"/>
            <a:r>
              <a:rPr lang="hu-HU" b="1" dirty="0" err="1"/>
              <a:t>MongoDB</a:t>
            </a:r>
            <a:r>
              <a:rPr lang="hu-HU" dirty="0"/>
              <a:t> – dokumentum-alapú adatbázis, JSON-szerű formátumban tárolja az adatokat.</a:t>
            </a:r>
          </a:p>
          <a:p>
            <a:pPr lvl="1"/>
            <a:r>
              <a:rPr lang="hu-HU" b="1" dirty="0" err="1"/>
              <a:t>Redis</a:t>
            </a:r>
            <a:r>
              <a:rPr lang="hu-HU" dirty="0"/>
              <a:t> – kulcs-érték alapú adatbázis, nagyon gyors, gyakran használják cache-ként vagy </a:t>
            </a:r>
            <a:r>
              <a:rPr lang="hu-HU" dirty="0" err="1"/>
              <a:t>real-time</a:t>
            </a:r>
            <a:r>
              <a:rPr lang="hu-HU" dirty="0"/>
              <a:t> alkalmazásokhoz.</a:t>
            </a:r>
          </a:p>
          <a:p>
            <a:pPr lvl="1"/>
            <a:r>
              <a:rPr lang="hu-HU" dirty="0"/>
              <a:t>(További példák: Cassandra, </a:t>
            </a:r>
            <a:r>
              <a:rPr lang="hu-HU" dirty="0" err="1"/>
              <a:t>CouchDB</a:t>
            </a:r>
            <a:r>
              <a:rPr lang="hu-HU" dirty="0"/>
              <a:t>, Neo4j)</a:t>
            </a:r>
          </a:p>
          <a:p>
            <a:r>
              <a:rPr lang="hu-HU" dirty="0"/>
              <a:t>Jellemzők</a:t>
            </a:r>
            <a:r>
              <a:rPr lang="hu-HU" b="1" dirty="0"/>
              <a:t>:</a:t>
            </a:r>
            <a:endParaRPr lang="hu-HU" dirty="0"/>
          </a:p>
          <a:p>
            <a:pPr lvl="1"/>
            <a:r>
              <a:rPr lang="hu-HU" dirty="0"/>
              <a:t>Dokumentumok, kulcs-érték párok, gráfok</a:t>
            </a:r>
          </a:p>
          <a:p>
            <a:pPr lvl="1"/>
            <a:r>
              <a:rPr lang="hu-HU" dirty="0"/>
              <a:t>Dinamikus séma</a:t>
            </a:r>
          </a:p>
          <a:p>
            <a:pPr lvl="1"/>
            <a:r>
              <a:rPr lang="hu-HU" dirty="0"/>
              <a:t>Nagy skálázhatóság</a:t>
            </a:r>
          </a:p>
          <a:p>
            <a:pPr lvl="1"/>
            <a:r>
              <a:rPr lang="hu-HU" dirty="0"/>
              <a:t>Gyors adatkezelés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96346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F4A770-C061-4236-AAAF-59D3CBBCB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Egyszerűsített példa a BACKEND működésére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9E159B7-D931-44C2-9090-CDC7DBBED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Backend működése egy webalkalmazásban</a:t>
            </a:r>
          </a:p>
          <a:p>
            <a:pPr lvl="1"/>
            <a:r>
              <a:rPr lang="hu-HU" dirty="0"/>
              <a:t>A felhasználó kattint egy gombra a frontend oldalon.</a:t>
            </a:r>
          </a:p>
          <a:p>
            <a:pPr lvl="1"/>
            <a:r>
              <a:rPr lang="hu-HU" dirty="0"/>
              <a:t>A frontend küld egy HTTP kérést a backendnek (pl. GET /</a:t>
            </a:r>
            <a:r>
              <a:rPr lang="hu-HU" dirty="0" err="1"/>
              <a:t>products</a:t>
            </a:r>
            <a:r>
              <a:rPr lang="hu-HU" dirty="0"/>
              <a:t>).</a:t>
            </a:r>
          </a:p>
          <a:p>
            <a:pPr lvl="1"/>
            <a:r>
              <a:rPr lang="hu-HU" dirty="0"/>
              <a:t>A backend feldolgozza a kérést, lekérdezi az adatokat az adatbázisból.</a:t>
            </a:r>
          </a:p>
          <a:p>
            <a:pPr lvl="1"/>
            <a:r>
              <a:rPr lang="hu-HU" dirty="0"/>
              <a:t>A backend visszaküld egy választ (pl. JSON formátumban).</a:t>
            </a:r>
          </a:p>
          <a:p>
            <a:pPr lvl="1"/>
            <a:r>
              <a:rPr lang="hu-HU" dirty="0"/>
              <a:t>A frontend megjeleníti az adatokat a felhasználónak.</a:t>
            </a:r>
          </a:p>
        </p:txBody>
      </p:sp>
    </p:spTree>
    <p:extLst>
      <p:ext uri="{BB962C8B-B14F-4D97-AF65-F5344CB8AC3E}">
        <p14:creationId xmlns:p14="http://schemas.microsoft.com/office/powerpoint/2010/main" val="1613062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F4E8BC5-C531-43D3-9E27-AA442240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Felhasználói fiók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4623E70-AB74-4A59-8B33-6274550DB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Bejelentkezés a lokális gépre</a:t>
            </a:r>
          </a:p>
          <a:p>
            <a:pPr lvl="1"/>
            <a:r>
              <a:rPr lang="hu-HU" dirty="0"/>
              <a:t>Felhasználó név: </a:t>
            </a:r>
            <a:r>
              <a:rPr lang="hu-HU" dirty="0" err="1"/>
              <a:t>Node</a:t>
            </a:r>
            <a:endParaRPr lang="hu-HU" dirty="0"/>
          </a:p>
          <a:p>
            <a:pPr lvl="1"/>
            <a:r>
              <a:rPr lang="hu-HU" dirty="0"/>
              <a:t>Jelszó: Tanulo123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58850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D5A40DA-91DE-412A-8F0E-138894E3B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Első projekt inicializálása és csomagok telepítése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1D0D694-FF19-4DFE-B703-628DEF02C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b="1" dirty="0"/>
              <a:t>Mappa létrehozása:</a:t>
            </a:r>
          </a:p>
          <a:p>
            <a:pPr lvl="1"/>
            <a:r>
              <a:rPr lang="hu-HU" dirty="0"/>
              <a:t>Terminál</a:t>
            </a:r>
            <a:r>
              <a:rPr lang="hu-HU" b="1" dirty="0"/>
              <a:t>: </a:t>
            </a:r>
            <a:endParaRPr lang="hu-HU" dirty="0"/>
          </a:p>
          <a:p>
            <a:pPr lvl="2"/>
            <a:r>
              <a:rPr lang="hu-HU" dirty="0" err="1"/>
              <a:t>mkdir</a:t>
            </a:r>
            <a:r>
              <a:rPr lang="hu-HU" dirty="0"/>
              <a:t> </a:t>
            </a:r>
            <a:r>
              <a:rPr lang="hu-HU" dirty="0" err="1"/>
              <a:t>elso-express</a:t>
            </a:r>
            <a:endParaRPr lang="hu-HU" dirty="0"/>
          </a:p>
          <a:p>
            <a:pPr lvl="2"/>
            <a:r>
              <a:rPr lang="hu-HU" dirty="0"/>
              <a:t>cd </a:t>
            </a:r>
            <a:r>
              <a:rPr lang="hu-HU" dirty="0" err="1"/>
              <a:t>elso-express</a:t>
            </a:r>
            <a:endParaRPr lang="hu-HU" dirty="0"/>
          </a:p>
          <a:p>
            <a:r>
              <a:rPr lang="hu-HU" b="1" dirty="0"/>
              <a:t>Projekt inicializálása:</a:t>
            </a:r>
            <a:endParaRPr lang="hu-HU" dirty="0"/>
          </a:p>
          <a:p>
            <a:pPr lvl="1"/>
            <a:r>
              <a:rPr lang="hu-HU" dirty="0" err="1"/>
              <a:t>npm</a:t>
            </a:r>
            <a:r>
              <a:rPr lang="hu-HU" dirty="0"/>
              <a:t> </a:t>
            </a:r>
            <a:r>
              <a:rPr lang="hu-HU" dirty="0" err="1"/>
              <a:t>init</a:t>
            </a:r>
            <a:r>
              <a:rPr lang="hu-HU" dirty="0"/>
              <a:t> -y</a:t>
            </a:r>
          </a:p>
          <a:p>
            <a:pPr lvl="2"/>
            <a:r>
              <a:rPr lang="hu-HU" dirty="0"/>
              <a:t>Ez létrehozza a </a:t>
            </a:r>
            <a:r>
              <a:rPr lang="hu-HU" i="1" dirty="0" err="1">
                <a:hlinkClick r:id="rId2" action="ppaction://hlinksldjump"/>
              </a:rPr>
              <a:t>package.json</a:t>
            </a:r>
            <a:r>
              <a:rPr lang="hu-HU" i="1" dirty="0">
                <a:hlinkClick r:id="rId2" action="ppaction://hlinksldjump"/>
              </a:rPr>
              <a:t> </a:t>
            </a:r>
            <a:r>
              <a:rPr lang="hu-HU" dirty="0"/>
              <a:t>fájlt alapértelmezett beállításokkal.</a:t>
            </a:r>
          </a:p>
          <a:p>
            <a:r>
              <a:rPr lang="hu-HU" b="1" dirty="0"/>
              <a:t>Express telepítése:</a:t>
            </a:r>
            <a:endParaRPr lang="hu-HU" dirty="0"/>
          </a:p>
          <a:p>
            <a:pPr lvl="1"/>
            <a:r>
              <a:rPr lang="hu-HU" dirty="0" err="1"/>
              <a:t>npm</a:t>
            </a:r>
            <a:r>
              <a:rPr lang="hu-HU" dirty="0"/>
              <a:t> </a:t>
            </a:r>
            <a:r>
              <a:rPr lang="hu-HU" dirty="0" err="1"/>
              <a:t>install</a:t>
            </a:r>
            <a:r>
              <a:rPr lang="hu-HU" dirty="0"/>
              <a:t> </a:t>
            </a:r>
            <a:r>
              <a:rPr lang="hu-HU" dirty="0" err="1"/>
              <a:t>express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06123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8CE4F54-141A-4ADA-9F18-BDA59FE39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2804" y="124860"/>
            <a:ext cx="8911687" cy="821918"/>
          </a:xfrm>
        </p:spPr>
        <p:txBody>
          <a:bodyPr/>
          <a:lstStyle/>
          <a:p>
            <a:r>
              <a:rPr lang="hu-HU" dirty="0"/>
              <a:t>A </a:t>
            </a:r>
            <a:r>
              <a:rPr lang="hu-HU" dirty="0" err="1"/>
              <a:t>package.json</a:t>
            </a:r>
            <a:r>
              <a:rPr lang="hu-HU" dirty="0"/>
              <a:t> fájl tartalma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1AD7723-D03A-4C7D-847E-BE5F507EE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150" y="946778"/>
            <a:ext cx="4997302" cy="57863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sz="1400" b="1" dirty="0"/>
              <a:t>{</a:t>
            </a:r>
          </a:p>
          <a:p>
            <a:pPr marL="0" indent="0">
              <a:buNone/>
            </a:pPr>
            <a:r>
              <a:rPr lang="hu-HU" sz="1400" dirty="0"/>
              <a:t>  // A projekt neve</a:t>
            </a:r>
          </a:p>
          <a:p>
            <a:pPr marL="0" indent="0">
              <a:buNone/>
            </a:pPr>
            <a:r>
              <a:rPr lang="hu-HU" sz="1400" b="1" dirty="0"/>
              <a:t>  "</a:t>
            </a:r>
            <a:r>
              <a:rPr lang="hu-HU" sz="1400" b="1" dirty="0" err="1"/>
              <a:t>name</a:t>
            </a:r>
            <a:r>
              <a:rPr lang="hu-HU" sz="1400" b="1" dirty="0"/>
              <a:t>": "</a:t>
            </a:r>
            <a:r>
              <a:rPr lang="hu-HU" sz="1400" b="1" dirty="0" err="1"/>
              <a:t>elso-express</a:t>
            </a:r>
            <a:r>
              <a:rPr lang="hu-HU" sz="1400" b="1" dirty="0"/>
              <a:t>",</a:t>
            </a:r>
          </a:p>
          <a:p>
            <a:pPr marL="0" indent="0">
              <a:buNone/>
            </a:pPr>
            <a:r>
              <a:rPr lang="hu-HU" sz="1400" dirty="0"/>
              <a:t>  // A verziószám (hasznos verziókezeléshez)</a:t>
            </a:r>
          </a:p>
          <a:p>
            <a:pPr marL="0" indent="0">
              <a:buNone/>
            </a:pPr>
            <a:r>
              <a:rPr lang="hu-HU" sz="1400" dirty="0"/>
              <a:t>  </a:t>
            </a:r>
            <a:r>
              <a:rPr lang="hu-HU" sz="1400" b="1" dirty="0"/>
              <a:t>"version": "1.0.0",</a:t>
            </a:r>
          </a:p>
          <a:p>
            <a:pPr marL="0" indent="0">
              <a:buNone/>
            </a:pPr>
            <a:r>
              <a:rPr lang="hu-HU" sz="1400" dirty="0"/>
              <a:t>  // A belépési pont (fő fájl), amit a Node.js futtat</a:t>
            </a:r>
          </a:p>
          <a:p>
            <a:pPr marL="0" indent="0">
              <a:buNone/>
            </a:pPr>
            <a:r>
              <a:rPr lang="hu-HU" sz="1400" b="1" dirty="0"/>
              <a:t>  "main": "index.js",</a:t>
            </a:r>
          </a:p>
          <a:p>
            <a:pPr marL="0" indent="0">
              <a:buNone/>
            </a:pPr>
            <a:r>
              <a:rPr lang="hu-HU" sz="1400" dirty="0"/>
              <a:t>  // Parancsok, amiket a </a:t>
            </a:r>
            <a:r>
              <a:rPr lang="hu-HU" sz="1400" i="1" dirty="0" err="1"/>
              <a:t>npm</a:t>
            </a:r>
            <a:r>
              <a:rPr lang="hu-HU" sz="1400" i="1" dirty="0"/>
              <a:t> </a:t>
            </a:r>
            <a:r>
              <a:rPr lang="hu-HU" sz="1400" i="1" dirty="0" err="1"/>
              <a:t>run</a:t>
            </a:r>
            <a:r>
              <a:rPr lang="hu-HU" sz="1400" i="1" dirty="0"/>
              <a:t> </a:t>
            </a:r>
            <a:r>
              <a:rPr lang="hu-HU" sz="1400" dirty="0"/>
              <a:t>segítségével futtathatsz</a:t>
            </a:r>
          </a:p>
          <a:p>
            <a:pPr marL="0" indent="0">
              <a:buNone/>
            </a:pPr>
            <a:r>
              <a:rPr lang="hu-HU" sz="1400" dirty="0"/>
              <a:t>  </a:t>
            </a:r>
            <a:r>
              <a:rPr lang="hu-HU" sz="1400" b="1" dirty="0"/>
              <a:t>"</a:t>
            </a:r>
            <a:r>
              <a:rPr lang="hu-HU" sz="1400" b="1" dirty="0" err="1"/>
              <a:t>scripts</a:t>
            </a:r>
            <a:r>
              <a:rPr lang="hu-HU" sz="1400" b="1" dirty="0"/>
              <a:t>": {</a:t>
            </a:r>
          </a:p>
          <a:p>
            <a:pPr marL="0" indent="0">
              <a:buNone/>
            </a:pPr>
            <a:r>
              <a:rPr lang="hu-HU" sz="1400" dirty="0"/>
              <a:t>    // Teszt parancs – jelenleg csak egy hibaüzenetet dob</a:t>
            </a:r>
          </a:p>
          <a:p>
            <a:pPr marL="0" indent="0">
              <a:buNone/>
            </a:pPr>
            <a:r>
              <a:rPr lang="hu-HU" sz="1400" dirty="0"/>
              <a:t>    </a:t>
            </a:r>
            <a:r>
              <a:rPr lang="hu-HU" sz="1400" b="1" dirty="0"/>
              <a:t>"test": "</a:t>
            </a:r>
            <a:r>
              <a:rPr lang="hu-HU" sz="1400" b="1" dirty="0" err="1"/>
              <a:t>echo</a:t>
            </a:r>
            <a:r>
              <a:rPr lang="hu-HU" sz="1400" b="1" dirty="0"/>
              <a:t> \"</a:t>
            </a:r>
            <a:r>
              <a:rPr lang="hu-HU" sz="1400" b="1" dirty="0" err="1"/>
              <a:t>Error</a:t>
            </a:r>
            <a:r>
              <a:rPr lang="hu-HU" sz="1400" b="1" dirty="0"/>
              <a:t>: no test </a:t>
            </a:r>
            <a:r>
              <a:rPr lang="hu-HU" sz="1400" b="1" dirty="0" err="1"/>
              <a:t>specified</a:t>
            </a:r>
            <a:r>
              <a:rPr lang="hu-HU" sz="1400" b="1" dirty="0"/>
              <a:t>\" &amp;&amp; </a:t>
            </a:r>
            <a:r>
              <a:rPr lang="hu-HU" sz="1400" b="1" dirty="0" err="1"/>
              <a:t>exit</a:t>
            </a:r>
            <a:r>
              <a:rPr lang="hu-HU" sz="1400" b="1" dirty="0"/>
              <a:t> 1"</a:t>
            </a:r>
          </a:p>
          <a:p>
            <a:pPr marL="0" indent="0">
              <a:buNone/>
            </a:pPr>
            <a:r>
              <a:rPr lang="hu-HU" sz="1400" b="1" dirty="0"/>
              <a:t>   },</a:t>
            </a:r>
          </a:p>
          <a:p>
            <a:pPr marL="0" indent="0">
              <a:buNone/>
            </a:pPr>
            <a:r>
              <a:rPr lang="hu-HU" sz="1400" dirty="0"/>
              <a:t>  </a:t>
            </a:r>
          </a:p>
        </p:txBody>
      </p:sp>
      <p:sp>
        <p:nvSpPr>
          <p:cNvPr id="4" name="Tartalom helye 2">
            <a:extLst>
              <a:ext uri="{FF2B5EF4-FFF2-40B4-BE49-F238E27FC236}">
                <a16:creationId xmlns:a16="http://schemas.microsoft.com/office/drawing/2014/main" id="{3E9340DD-7E2D-4BC1-BCC6-093B2445EE2C}"/>
              </a:ext>
            </a:extLst>
          </p:cNvPr>
          <p:cNvSpPr txBox="1">
            <a:spLocks/>
          </p:cNvSpPr>
          <p:nvPr/>
        </p:nvSpPr>
        <p:spPr>
          <a:xfrm>
            <a:off x="6337189" y="946778"/>
            <a:ext cx="5273564" cy="53264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u-HU" sz="1400" kern="0" dirty="0"/>
              <a:t>// Kulcsszavak, amik segítenek a projekt kereshetőségében (pl. </a:t>
            </a:r>
            <a:r>
              <a:rPr lang="hu-HU" sz="1400" kern="0" dirty="0" err="1"/>
              <a:t>npm</a:t>
            </a:r>
            <a:r>
              <a:rPr lang="hu-HU" sz="1400" kern="0" dirty="0"/>
              <a:t>-en)</a:t>
            </a:r>
          </a:p>
          <a:p>
            <a:pPr marL="0" indent="0">
              <a:buFont typeface="Wingdings 3" charset="2"/>
              <a:buNone/>
            </a:pPr>
            <a:r>
              <a:rPr lang="hu-HU" sz="1400" kern="0" dirty="0"/>
              <a:t>  </a:t>
            </a:r>
            <a:r>
              <a:rPr lang="hu-HU" sz="1400" b="1" kern="0" dirty="0"/>
              <a:t>"</a:t>
            </a:r>
            <a:r>
              <a:rPr lang="hu-HU" sz="1400" b="1" kern="0" dirty="0" err="1"/>
              <a:t>keywords</a:t>
            </a:r>
            <a:r>
              <a:rPr lang="hu-HU" sz="1400" b="1" kern="0" dirty="0"/>
              <a:t>": [],</a:t>
            </a:r>
          </a:p>
          <a:p>
            <a:pPr marL="0" indent="0">
              <a:buFont typeface="Wingdings 3" charset="2"/>
              <a:buNone/>
            </a:pPr>
            <a:r>
              <a:rPr lang="hu-HU" sz="1400" kern="0" dirty="0"/>
              <a:t>  // A szerző neve (jelenleg üres)</a:t>
            </a:r>
          </a:p>
          <a:p>
            <a:pPr marL="0" indent="0">
              <a:buFont typeface="Wingdings 3" charset="2"/>
              <a:buNone/>
            </a:pPr>
            <a:r>
              <a:rPr lang="hu-HU" sz="1400" kern="0" dirty="0"/>
              <a:t>  </a:t>
            </a:r>
            <a:r>
              <a:rPr lang="hu-HU" sz="1400" b="1" kern="0" dirty="0"/>
              <a:t>"</a:t>
            </a:r>
            <a:r>
              <a:rPr lang="hu-HU" sz="1400" b="1" kern="0" dirty="0" err="1"/>
              <a:t>author</a:t>
            </a:r>
            <a:r>
              <a:rPr lang="hu-HU" sz="1400" b="1" kern="0" dirty="0"/>
              <a:t>": "",</a:t>
            </a:r>
          </a:p>
          <a:p>
            <a:pPr marL="0" indent="0">
              <a:buFont typeface="Wingdings 3" charset="2"/>
              <a:buNone/>
            </a:pPr>
            <a:r>
              <a:rPr lang="hu-HU" sz="1400" kern="0" dirty="0"/>
              <a:t>  // A licenc típusa – ISC egy szabad szoftverlicenc</a:t>
            </a:r>
          </a:p>
          <a:p>
            <a:pPr marL="0" indent="0">
              <a:buFont typeface="Wingdings 3" charset="2"/>
              <a:buNone/>
            </a:pPr>
            <a:r>
              <a:rPr lang="hu-HU" sz="1400" kern="0" dirty="0"/>
              <a:t>  </a:t>
            </a:r>
            <a:r>
              <a:rPr lang="hu-HU" sz="1400" b="1" kern="0" dirty="0"/>
              <a:t>"</a:t>
            </a:r>
            <a:r>
              <a:rPr lang="hu-HU" sz="1400" b="1" kern="0" dirty="0" err="1"/>
              <a:t>license</a:t>
            </a:r>
            <a:r>
              <a:rPr lang="hu-HU" sz="1400" b="1" kern="0" dirty="0"/>
              <a:t>": "ISC",</a:t>
            </a:r>
          </a:p>
          <a:p>
            <a:pPr marL="0" indent="0">
              <a:buFont typeface="Wingdings 3" charset="2"/>
              <a:buNone/>
            </a:pPr>
            <a:r>
              <a:rPr lang="hu-HU" sz="1400" kern="0" dirty="0"/>
              <a:t>  // Rövid leírás a projektről (jelenleg üres)</a:t>
            </a:r>
          </a:p>
          <a:p>
            <a:pPr marL="0" indent="0">
              <a:buFont typeface="Wingdings 3" charset="2"/>
              <a:buNone/>
            </a:pPr>
            <a:r>
              <a:rPr lang="hu-HU" sz="1400" kern="0" dirty="0"/>
              <a:t>  </a:t>
            </a:r>
            <a:r>
              <a:rPr lang="hu-HU" sz="1400" b="1" kern="0" dirty="0"/>
              <a:t>"</a:t>
            </a:r>
            <a:r>
              <a:rPr lang="hu-HU" sz="1400" b="1" kern="0" dirty="0" err="1"/>
              <a:t>description</a:t>
            </a:r>
            <a:r>
              <a:rPr lang="hu-HU" sz="1400" b="1" kern="0" dirty="0"/>
              <a:t>": "",</a:t>
            </a:r>
          </a:p>
          <a:p>
            <a:pPr marL="0" indent="0">
              <a:buFont typeface="Wingdings 3" charset="2"/>
              <a:buNone/>
            </a:pPr>
            <a:r>
              <a:rPr lang="hu-HU" sz="1400" kern="0" dirty="0"/>
              <a:t>  // A projekt függőségei – itt az Express keretrendszer</a:t>
            </a:r>
          </a:p>
          <a:p>
            <a:pPr marL="0" indent="0">
              <a:buFont typeface="Wingdings 3" charset="2"/>
              <a:buNone/>
            </a:pPr>
            <a:r>
              <a:rPr lang="hu-HU" sz="1400" kern="0" dirty="0"/>
              <a:t>  </a:t>
            </a:r>
            <a:r>
              <a:rPr lang="hu-HU" sz="1400" b="1" kern="0" dirty="0"/>
              <a:t>"</a:t>
            </a:r>
            <a:r>
              <a:rPr lang="hu-HU" sz="1400" b="1" kern="0" dirty="0" err="1"/>
              <a:t>dependencies</a:t>
            </a:r>
            <a:r>
              <a:rPr lang="hu-HU" sz="1400" b="1" kern="0" dirty="0"/>
              <a:t>": {</a:t>
            </a:r>
          </a:p>
          <a:p>
            <a:pPr marL="0" indent="0">
              <a:buFont typeface="Wingdings 3" charset="2"/>
              <a:buNone/>
            </a:pPr>
            <a:r>
              <a:rPr lang="hu-HU" sz="1400" kern="0" dirty="0"/>
              <a:t>    // Az Express legfrissebb 5.1.x verziója lesz telepítve</a:t>
            </a:r>
          </a:p>
          <a:p>
            <a:pPr marL="0" indent="0">
              <a:buFont typeface="Wingdings 3" charset="2"/>
              <a:buNone/>
            </a:pPr>
            <a:r>
              <a:rPr lang="hu-HU" sz="1400" kern="0" dirty="0"/>
              <a:t>    </a:t>
            </a:r>
            <a:r>
              <a:rPr lang="hu-HU" sz="1400" b="1" kern="0" dirty="0"/>
              <a:t>"</a:t>
            </a:r>
            <a:r>
              <a:rPr lang="hu-HU" sz="1400" b="1" kern="0" dirty="0" err="1"/>
              <a:t>express</a:t>
            </a:r>
            <a:r>
              <a:rPr lang="hu-HU" sz="1400" b="1" kern="0" dirty="0"/>
              <a:t>": "^5.1.0"</a:t>
            </a:r>
          </a:p>
          <a:p>
            <a:pPr marL="0" indent="0">
              <a:buFont typeface="Wingdings 3" charset="2"/>
              <a:buNone/>
            </a:pPr>
            <a:r>
              <a:rPr lang="hu-HU" sz="1400" b="1" kern="0" dirty="0"/>
              <a:t>  }</a:t>
            </a:r>
          </a:p>
          <a:p>
            <a:pPr marL="0" indent="0">
              <a:buFont typeface="Wingdings 3" charset="2"/>
              <a:buNone/>
            </a:pPr>
            <a:r>
              <a:rPr lang="hu-HU" sz="1400" b="1" kern="0" dirty="0"/>
              <a:t>}</a:t>
            </a:r>
          </a:p>
          <a:p>
            <a:pPr marL="0" indent="0">
              <a:buFont typeface="Wingdings 3" charset="2"/>
              <a:buNone/>
            </a:pPr>
            <a:endParaRPr lang="hu-HU" sz="1400" kern="0" dirty="0"/>
          </a:p>
        </p:txBody>
      </p:sp>
      <p:sp>
        <p:nvSpPr>
          <p:cNvPr id="5" name="Nyíl: jobbra mutató 4">
            <a:hlinkClick r:id="rId2" action="ppaction://hlinksldjump"/>
            <a:extLst>
              <a:ext uri="{FF2B5EF4-FFF2-40B4-BE49-F238E27FC236}">
                <a16:creationId xmlns:a16="http://schemas.microsoft.com/office/drawing/2014/main" id="{B9008508-0C04-4CAA-A164-B286D6B1DAC4}"/>
              </a:ext>
            </a:extLst>
          </p:cNvPr>
          <p:cNvSpPr/>
          <p:nvPr/>
        </p:nvSpPr>
        <p:spPr>
          <a:xfrm>
            <a:off x="11238614" y="6233890"/>
            <a:ext cx="574158" cy="337031"/>
          </a:xfrm>
          <a:prstGeom prst="rightArrow">
            <a:avLst>
              <a:gd name="adj1" fmla="val 37381"/>
              <a:gd name="adj2" fmla="val 10994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998401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55C341-C47F-4DAD-B13E-BCD4DE5A3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Első projekt inicializálása és csomagok telepítése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4A13669-A746-4933-BC56-4F32B1907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b="1" dirty="0" err="1"/>
              <a:t>Nodemon</a:t>
            </a:r>
            <a:r>
              <a:rPr lang="hu-HU" b="1" dirty="0"/>
              <a:t> telepítése (fejlesztési célra):</a:t>
            </a:r>
            <a:endParaRPr lang="hu-HU" dirty="0"/>
          </a:p>
          <a:p>
            <a:pPr lvl="1"/>
            <a:r>
              <a:rPr lang="hu-HU" dirty="0" err="1"/>
              <a:t>npm</a:t>
            </a:r>
            <a:r>
              <a:rPr lang="hu-HU" dirty="0"/>
              <a:t> </a:t>
            </a:r>
            <a:r>
              <a:rPr lang="hu-HU" dirty="0" err="1"/>
              <a:t>install</a:t>
            </a:r>
            <a:r>
              <a:rPr lang="hu-HU" dirty="0"/>
              <a:t> --</a:t>
            </a:r>
            <a:r>
              <a:rPr lang="hu-HU" dirty="0" err="1"/>
              <a:t>save-dev</a:t>
            </a:r>
            <a:r>
              <a:rPr lang="hu-HU" dirty="0"/>
              <a:t> </a:t>
            </a:r>
            <a:r>
              <a:rPr lang="hu-HU" dirty="0" err="1"/>
              <a:t>nodemon</a:t>
            </a:r>
            <a:endParaRPr lang="hu-HU" dirty="0"/>
          </a:p>
          <a:p>
            <a:pPr lvl="2"/>
            <a:r>
              <a:rPr lang="hu-HU" dirty="0"/>
              <a:t>A </a:t>
            </a:r>
            <a:r>
              <a:rPr lang="hu-HU" dirty="0" err="1"/>
              <a:t>Nodemon</a:t>
            </a:r>
            <a:r>
              <a:rPr lang="hu-HU" dirty="0"/>
              <a:t> automatikusan </a:t>
            </a:r>
            <a:r>
              <a:rPr lang="hu-HU" dirty="0" err="1"/>
              <a:t>újraindítja</a:t>
            </a:r>
            <a:r>
              <a:rPr lang="hu-HU" dirty="0"/>
              <a:t> a szervert, ha módosítasz egy fájlt.</a:t>
            </a:r>
          </a:p>
          <a:p>
            <a:r>
              <a:rPr lang="hu-HU" b="1" dirty="0" err="1"/>
              <a:t>package.json</a:t>
            </a:r>
            <a:r>
              <a:rPr lang="hu-HU" b="1" dirty="0"/>
              <a:t> módosítása:</a:t>
            </a:r>
            <a:endParaRPr lang="hu-HU" dirty="0"/>
          </a:p>
          <a:p>
            <a:pPr lvl="1"/>
            <a:r>
              <a:rPr lang="hu-HU" dirty="0"/>
              <a:t>"</a:t>
            </a:r>
            <a:r>
              <a:rPr lang="hu-HU" dirty="0" err="1"/>
              <a:t>scripts</a:t>
            </a:r>
            <a:r>
              <a:rPr lang="hu-HU" dirty="0"/>
              <a:t>": {</a:t>
            </a:r>
          </a:p>
          <a:p>
            <a:pPr lvl="1"/>
            <a:r>
              <a:rPr lang="hu-HU" dirty="0"/>
              <a:t>  "start": " </a:t>
            </a:r>
            <a:r>
              <a:rPr lang="hu-HU" dirty="0" err="1"/>
              <a:t>node</a:t>
            </a:r>
            <a:r>
              <a:rPr lang="hu-HU" dirty="0"/>
              <a:t> index.js",</a:t>
            </a:r>
          </a:p>
          <a:p>
            <a:pPr lvl="1"/>
            <a:r>
              <a:rPr lang="hu-HU" dirty="0"/>
              <a:t>  "</a:t>
            </a:r>
            <a:r>
              <a:rPr lang="hu-HU" dirty="0" err="1"/>
              <a:t>dev</a:t>
            </a:r>
            <a:r>
              <a:rPr lang="hu-HU" dirty="0"/>
              <a:t>": "</a:t>
            </a:r>
            <a:r>
              <a:rPr lang="hu-HU" dirty="0" err="1"/>
              <a:t>nodemon</a:t>
            </a:r>
            <a:r>
              <a:rPr lang="hu-HU" dirty="0"/>
              <a:t> index.js"</a:t>
            </a:r>
          </a:p>
          <a:p>
            <a:pPr lvl="1"/>
            <a:r>
              <a:rPr lang="hu-HU" dirty="0"/>
              <a:t>}</a:t>
            </a:r>
          </a:p>
          <a:p>
            <a:r>
              <a:rPr lang="hu-HU" dirty="0"/>
              <a:t>Ez lehetővé teszi, hogy a szervert egyszerűen elindítsd:</a:t>
            </a:r>
          </a:p>
          <a:p>
            <a:pPr lvl="1"/>
            <a:r>
              <a:rPr lang="hu-HU" dirty="0" err="1"/>
              <a:t>npm</a:t>
            </a:r>
            <a:r>
              <a:rPr lang="hu-HU" dirty="0"/>
              <a:t> </a:t>
            </a:r>
            <a:r>
              <a:rPr lang="hu-HU" dirty="0" err="1"/>
              <a:t>run</a:t>
            </a:r>
            <a:r>
              <a:rPr lang="hu-HU" dirty="0"/>
              <a:t> start – normál futtatás</a:t>
            </a:r>
          </a:p>
          <a:p>
            <a:pPr lvl="1"/>
            <a:r>
              <a:rPr lang="hu-HU" dirty="0" err="1"/>
              <a:t>npm</a:t>
            </a:r>
            <a:r>
              <a:rPr lang="hu-HU" dirty="0"/>
              <a:t> </a:t>
            </a:r>
            <a:r>
              <a:rPr lang="hu-HU" dirty="0" err="1"/>
              <a:t>run</a:t>
            </a:r>
            <a:r>
              <a:rPr lang="hu-HU" dirty="0"/>
              <a:t> </a:t>
            </a:r>
            <a:r>
              <a:rPr lang="hu-HU" dirty="0" err="1"/>
              <a:t>dev</a:t>
            </a:r>
            <a:r>
              <a:rPr lang="hu-HU" dirty="0"/>
              <a:t> – fejlesztői mód </a:t>
            </a:r>
            <a:r>
              <a:rPr lang="hu-HU" dirty="0" err="1"/>
              <a:t>Nodemon-nal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7931654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1555CE-C776-4CC0-9EED-906CB86B2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315766"/>
            <a:ext cx="8911687" cy="970774"/>
          </a:xfrm>
        </p:spPr>
        <p:txBody>
          <a:bodyPr>
            <a:normAutofit fontScale="90000"/>
          </a:bodyPr>
          <a:lstStyle/>
          <a:p>
            <a:r>
              <a:rPr lang="hu-HU" b="1" dirty="0"/>
              <a:t>„Hello, World” Express alkalmazás létrehozása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6D49CC2-C604-494C-9AE5-ED2A10006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5928" y="1435396"/>
            <a:ext cx="8915400" cy="5348176"/>
          </a:xfrm>
        </p:spPr>
        <p:txBody>
          <a:bodyPr>
            <a:normAutofit fontScale="92500" lnSpcReduction="20000"/>
          </a:bodyPr>
          <a:lstStyle/>
          <a:p>
            <a:r>
              <a:rPr lang="hu-HU" dirty="0"/>
              <a:t>Hozz létre egy index.js fájt a projekt gyökerébe:</a:t>
            </a:r>
          </a:p>
          <a:p>
            <a:pPr marL="457200" lvl="1" indent="0">
              <a:buNone/>
            </a:pPr>
            <a:endParaRPr lang="hu-H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dirty="0"/>
              <a:t>// Az Express keretrendszer betöltése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b="1" dirty="0"/>
              <a:t>const </a:t>
            </a:r>
            <a:r>
              <a:rPr lang="hu-HU" b="1" dirty="0" err="1"/>
              <a:t>express</a:t>
            </a:r>
            <a:r>
              <a:rPr lang="hu-HU" b="1" dirty="0"/>
              <a:t> = </a:t>
            </a:r>
            <a:r>
              <a:rPr lang="hu-HU" b="1" dirty="0" err="1"/>
              <a:t>require</a:t>
            </a:r>
            <a:r>
              <a:rPr lang="hu-HU" b="1" dirty="0"/>
              <a:t>('</a:t>
            </a:r>
            <a:r>
              <a:rPr lang="hu-HU" b="1" dirty="0" err="1"/>
              <a:t>express</a:t>
            </a:r>
            <a:r>
              <a:rPr lang="hu-HU" b="1" dirty="0"/>
              <a:t>');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hu-H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dirty="0"/>
              <a:t>// Egy új Express alkalmazás példány létrehozása (az objektumon keresztül érhetők el az </a:t>
            </a:r>
            <a:r>
              <a:rPr lang="hu-HU" dirty="0" err="1"/>
              <a:t>express</a:t>
            </a:r>
            <a:r>
              <a:rPr lang="hu-HU" dirty="0"/>
              <a:t> osztály adattagjai, metódusai)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b="1" dirty="0"/>
              <a:t>const app = </a:t>
            </a:r>
            <a:r>
              <a:rPr lang="hu-HU" b="1" dirty="0" err="1"/>
              <a:t>express</a:t>
            </a:r>
            <a:r>
              <a:rPr lang="hu-HU" b="1" dirty="0"/>
              <a:t>();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hu-H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dirty="0"/>
              <a:t>// A gyökér útvonal ("/") kezelése GET </a:t>
            </a:r>
            <a:r>
              <a:rPr lang="hu-HU" dirty="0" err="1"/>
              <a:t>kérésel</a:t>
            </a:r>
            <a:r>
              <a:rPr lang="hu-HU" dirty="0"/>
              <a:t> (</a:t>
            </a:r>
            <a:r>
              <a:rPr lang="hu-HU" dirty="0" err="1"/>
              <a:t>routing</a:t>
            </a:r>
            <a:r>
              <a:rPr lang="hu-HU" dirty="0"/>
              <a:t>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b="1" dirty="0" err="1"/>
              <a:t>app.get</a:t>
            </a:r>
            <a:r>
              <a:rPr lang="hu-HU" b="1" dirty="0"/>
              <a:t>('/', (</a:t>
            </a:r>
            <a:r>
              <a:rPr lang="hu-HU" b="1" dirty="0" err="1"/>
              <a:t>req</a:t>
            </a:r>
            <a:r>
              <a:rPr lang="hu-HU" b="1" dirty="0"/>
              <a:t>, </a:t>
            </a:r>
            <a:r>
              <a:rPr lang="hu-HU" b="1" dirty="0" err="1"/>
              <a:t>res</a:t>
            </a:r>
            <a:r>
              <a:rPr lang="hu-HU" b="1" dirty="0"/>
              <a:t>) =&gt; { </a:t>
            </a:r>
            <a:r>
              <a:rPr lang="hu-HU" dirty="0"/>
              <a:t>//(</a:t>
            </a:r>
            <a:r>
              <a:rPr lang="hu-HU" dirty="0" err="1">
                <a:hlinkClick r:id="rId2" action="ppaction://hlinksldjump"/>
              </a:rPr>
              <a:t>req</a:t>
            </a:r>
            <a:r>
              <a:rPr lang="hu-HU" dirty="0">
                <a:hlinkClick r:id="rId2" action="ppaction://hlinksldjump"/>
              </a:rPr>
              <a:t>, </a:t>
            </a:r>
            <a:r>
              <a:rPr lang="hu-HU" dirty="0" err="1">
                <a:hlinkClick r:id="rId2" action="ppaction://hlinksldjump"/>
              </a:rPr>
              <a:t>res</a:t>
            </a:r>
            <a:r>
              <a:rPr lang="hu-HU" dirty="0"/>
              <a:t>) két alap paraméter </a:t>
            </a:r>
            <a:r>
              <a:rPr lang="hu-HU" dirty="0" err="1"/>
              <a:t>req</a:t>
            </a:r>
            <a:r>
              <a:rPr lang="hu-HU" dirty="0"/>
              <a:t>: kérés, </a:t>
            </a:r>
            <a:r>
              <a:rPr lang="hu-HU" dirty="0" err="1"/>
              <a:t>res</a:t>
            </a:r>
            <a:r>
              <a:rPr lang="hu-HU" dirty="0"/>
              <a:t>: válasz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dirty="0"/>
              <a:t>  // Válasz küldése a kliensnek: "Hello, World!"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dirty="0"/>
              <a:t>  </a:t>
            </a:r>
            <a:r>
              <a:rPr lang="hu-HU" b="1" dirty="0" err="1"/>
              <a:t>res.send</a:t>
            </a:r>
            <a:r>
              <a:rPr lang="hu-HU" b="1" dirty="0"/>
              <a:t>('Hello, World!');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b="1" dirty="0"/>
              <a:t>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hu-HU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dirty="0"/>
              <a:t>// A szerver elindítása a 3000-es </a:t>
            </a:r>
            <a:r>
              <a:rPr lang="hu-HU" dirty="0" err="1"/>
              <a:t>porton</a:t>
            </a:r>
            <a:r>
              <a:rPr lang="hu-HU" dirty="0"/>
              <a:t> (belehallgatás, ha megy akkor ír a konzolra)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b="1" dirty="0" err="1"/>
              <a:t>app.listen</a:t>
            </a:r>
            <a:r>
              <a:rPr lang="hu-HU" b="1" dirty="0"/>
              <a:t>(3000, () =&gt;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dirty="0"/>
              <a:t>  // Konzolra kiírjuk, hogy a szerver fut és hol érhető el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dirty="0"/>
              <a:t>  </a:t>
            </a:r>
            <a:r>
              <a:rPr lang="hu-HU" b="1" dirty="0"/>
              <a:t>console.log(„Szerver elindult: http://localhost:3000”);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hu-HU" b="1" dirty="0"/>
              <a:t>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hu-HU" b="1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hu-HU" b="1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27767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BB47812-364C-4C59-9593-B41C7C65E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217101"/>
            <a:ext cx="8911687" cy="640445"/>
          </a:xfrm>
        </p:spPr>
        <p:txBody>
          <a:bodyPr/>
          <a:lstStyle/>
          <a:p>
            <a:r>
              <a:rPr lang="hu-HU" dirty="0"/>
              <a:t>Paraméterek: (</a:t>
            </a:r>
            <a:r>
              <a:rPr lang="hu-HU" dirty="0" err="1"/>
              <a:t>req</a:t>
            </a:r>
            <a:r>
              <a:rPr lang="hu-HU" dirty="0"/>
              <a:t>, </a:t>
            </a:r>
            <a:r>
              <a:rPr lang="hu-HU" dirty="0" err="1"/>
              <a:t>res</a:t>
            </a:r>
            <a:r>
              <a:rPr lang="hu-HU" dirty="0"/>
              <a:t>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83C50E7-49F5-462D-B938-17FECF85A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956930"/>
            <a:ext cx="8915400" cy="5358810"/>
          </a:xfrm>
        </p:spPr>
        <p:txBody>
          <a:bodyPr/>
          <a:lstStyle/>
          <a:p>
            <a:r>
              <a:rPr lang="hu-HU" b="1" dirty="0" err="1"/>
              <a:t>req</a:t>
            </a:r>
            <a:r>
              <a:rPr lang="hu-HU" b="1" dirty="0"/>
              <a:t> – a </a:t>
            </a:r>
            <a:r>
              <a:rPr lang="hu-HU" b="1" dirty="0" err="1"/>
              <a:t>request</a:t>
            </a:r>
            <a:r>
              <a:rPr lang="hu-HU" b="1" dirty="0"/>
              <a:t> objektum</a:t>
            </a:r>
            <a:r>
              <a:rPr lang="hu-HU" dirty="0"/>
              <a:t>: tartalmaz minden információt, amit a kliens küld a szervernek:</a:t>
            </a:r>
          </a:p>
          <a:p>
            <a:pPr lvl="1"/>
            <a:r>
              <a:rPr lang="hu-HU" dirty="0"/>
              <a:t>URL, metódus (pl. GET, POST)</a:t>
            </a:r>
          </a:p>
          <a:p>
            <a:pPr lvl="1"/>
            <a:r>
              <a:rPr lang="hu-HU" dirty="0" err="1"/>
              <a:t>Query</a:t>
            </a:r>
            <a:r>
              <a:rPr lang="hu-HU" dirty="0"/>
              <a:t> paraméterek: </a:t>
            </a:r>
            <a:r>
              <a:rPr lang="hu-HU" dirty="0" err="1"/>
              <a:t>req.query</a:t>
            </a:r>
            <a:endParaRPr lang="hu-HU" dirty="0"/>
          </a:p>
          <a:p>
            <a:pPr lvl="1"/>
            <a:r>
              <a:rPr lang="hu-HU" dirty="0"/>
              <a:t>Útvonal paraméterek: </a:t>
            </a:r>
            <a:r>
              <a:rPr lang="hu-HU" dirty="0" err="1"/>
              <a:t>req.params</a:t>
            </a:r>
            <a:endParaRPr lang="hu-HU" dirty="0"/>
          </a:p>
          <a:p>
            <a:pPr lvl="1"/>
            <a:r>
              <a:rPr lang="hu-HU" dirty="0"/>
              <a:t>Küldött adatok (pl. űrlap): </a:t>
            </a:r>
            <a:r>
              <a:rPr lang="hu-HU" dirty="0" err="1"/>
              <a:t>req.body</a:t>
            </a:r>
            <a:endParaRPr lang="hu-HU" dirty="0"/>
          </a:p>
          <a:p>
            <a:pPr lvl="1"/>
            <a:r>
              <a:rPr lang="hu-HU" dirty="0"/>
              <a:t>Fejlécek: </a:t>
            </a:r>
            <a:r>
              <a:rPr lang="hu-HU" dirty="0" err="1"/>
              <a:t>req.headers</a:t>
            </a:r>
            <a:endParaRPr lang="hu-HU" dirty="0"/>
          </a:p>
          <a:p>
            <a:pPr lvl="1"/>
            <a:r>
              <a:rPr lang="hu-HU" dirty="0"/>
              <a:t>IP cím, </a:t>
            </a:r>
            <a:r>
              <a:rPr lang="hu-HU" dirty="0" err="1"/>
              <a:t>cookie</a:t>
            </a:r>
            <a:r>
              <a:rPr lang="hu-HU" dirty="0"/>
              <a:t>-k, stb.</a:t>
            </a:r>
          </a:p>
          <a:p>
            <a:r>
              <a:rPr lang="hu-HU" b="1" dirty="0" err="1"/>
              <a:t>res</a:t>
            </a:r>
            <a:r>
              <a:rPr lang="hu-HU" b="1" dirty="0"/>
              <a:t> – a </a:t>
            </a:r>
            <a:r>
              <a:rPr lang="hu-HU" b="1" dirty="0" err="1"/>
              <a:t>response</a:t>
            </a:r>
            <a:r>
              <a:rPr lang="hu-HU" b="1" dirty="0"/>
              <a:t> objektum</a:t>
            </a:r>
            <a:r>
              <a:rPr lang="hu-HU" dirty="0"/>
              <a:t>: ezen keresztül válaszol a kliensnek:</a:t>
            </a:r>
          </a:p>
          <a:p>
            <a:pPr lvl="1"/>
            <a:r>
              <a:rPr lang="hu-HU" dirty="0"/>
              <a:t>Szöveg küldése: </a:t>
            </a:r>
            <a:r>
              <a:rPr lang="hu-HU" dirty="0" err="1"/>
              <a:t>res.send</a:t>
            </a:r>
            <a:r>
              <a:rPr lang="hu-HU" dirty="0"/>
              <a:t>()</a:t>
            </a:r>
          </a:p>
          <a:p>
            <a:pPr lvl="1"/>
            <a:r>
              <a:rPr lang="hu-HU" dirty="0"/>
              <a:t>JSON válasz: </a:t>
            </a:r>
            <a:r>
              <a:rPr lang="hu-HU" dirty="0" err="1"/>
              <a:t>res.json</a:t>
            </a:r>
            <a:r>
              <a:rPr lang="hu-HU" dirty="0"/>
              <a:t>()</a:t>
            </a:r>
          </a:p>
          <a:p>
            <a:pPr lvl="1"/>
            <a:r>
              <a:rPr lang="hu-HU" dirty="0"/>
              <a:t>Állapotkód beállítása: </a:t>
            </a:r>
            <a:r>
              <a:rPr lang="hu-HU" dirty="0" err="1"/>
              <a:t>res.status</a:t>
            </a:r>
            <a:r>
              <a:rPr lang="hu-HU" dirty="0"/>
              <a:t>(404)</a:t>
            </a:r>
          </a:p>
          <a:p>
            <a:pPr lvl="1"/>
            <a:r>
              <a:rPr lang="hu-HU" dirty="0"/>
              <a:t>Fejlécek módosítása: </a:t>
            </a:r>
            <a:r>
              <a:rPr lang="hu-HU" dirty="0" err="1"/>
              <a:t>res.set</a:t>
            </a:r>
            <a:r>
              <a:rPr lang="hu-HU" dirty="0"/>
              <a:t>()</a:t>
            </a:r>
          </a:p>
        </p:txBody>
      </p:sp>
      <p:sp>
        <p:nvSpPr>
          <p:cNvPr id="4" name="Nyíl: jobbra mutató 3">
            <a:hlinkClick r:id="rId2" action="ppaction://hlinksldjump"/>
            <a:extLst>
              <a:ext uri="{FF2B5EF4-FFF2-40B4-BE49-F238E27FC236}">
                <a16:creationId xmlns:a16="http://schemas.microsoft.com/office/drawing/2014/main" id="{27AEB93E-9DFA-414A-983C-22FAFCA6DE7D}"/>
              </a:ext>
            </a:extLst>
          </p:cNvPr>
          <p:cNvSpPr/>
          <p:nvPr/>
        </p:nvSpPr>
        <p:spPr>
          <a:xfrm>
            <a:off x="11238614" y="6233890"/>
            <a:ext cx="574158" cy="337031"/>
          </a:xfrm>
          <a:prstGeom prst="rightArrow">
            <a:avLst>
              <a:gd name="adj1" fmla="val 37381"/>
              <a:gd name="adj2" fmla="val 10994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724206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E68B58D-6F70-41C9-9CAD-D29E5E6DC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Alkalmazás tesztelése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71C50D8-77D0-4660-B9F2-4FE139C6A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dirty="0"/>
              <a:t>Futtatás:</a:t>
            </a:r>
          </a:p>
          <a:p>
            <a:pPr lvl="1"/>
            <a:r>
              <a:rPr lang="hu-HU" dirty="0" err="1"/>
              <a:t>npm</a:t>
            </a:r>
            <a:r>
              <a:rPr lang="hu-HU" dirty="0"/>
              <a:t> </a:t>
            </a:r>
            <a:r>
              <a:rPr lang="hu-HU" dirty="0" err="1"/>
              <a:t>run</a:t>
            </a:r>
            <a:r>
              <a:rPr lang="hu-HU" dirty="0"/>
              <a:t> </a:t>
            </a:r>
            <a:r>
              <a:rPr lang="hu-HU" dirty="0" err="1"/>
              <a:t>dev</a:t>
            </a:r>
            <a:endParaRPr lang="hu-HU" dirty="0"/>
          </a:p>
          <a:p>
            <a:pPr lvl="1"/>
            <a:r>
              <a:rPr lang="hu-HU" dirty="0"/>
              <a:t>Ha a szerver elindul, az üzenet: „Szerver elindult: http://localhost:3000”</a:t>
            </a:r>
          </a:p>
          <a:p>
            <a:pPr marL="457200" lvl="1" indent="0">
              <a:buNone/>
            </a:pPr>
            <a:endParaRPr lang="hu-HU" dirty="0"/>
          </a:p>
          <a:p>
            <a:pPr lvl="0"/>
            <a:r>
              <a:rPr lang="hu-HU" dirty="0"/>
              <a:t>Böngészőben megnyitni: http://localhost:3000</a:t>
            </a:r>
          </a:p>
          <a:p>
            <a:pPr marL="0" lvl="0" indent="0">
              <a:buNone/>
            </a:pPr>
            <a:endParaRPr lang="hu-HU" dirty="0"/>
          </a:p>
          <a:p>
            <a:pPr marL="0" indent="0" algn="ctr">
              <a:buNone/>
            </a:pPr>
            <a:r>
              <a:rPr lang="hu-HU" dirty="0"/>
              <a:t>Várható válasz: „Hello, World!”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641693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39BCFB6-DCE9-48BC-A2B3-681D97653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220553"/>
            <a:ext cx="8911687" cy="726225"/>
          </a:xfrm>
        </p:spPr>
        <p:txBody>
          <a:bodyPr>
            <a:normAutofit fontScale="90000"/>
          </a:bodyPr>
          <a:lstStyle/>
          <a:p>
            <a:r>
              <a:rPr lang="hu-HU" b="1" dirty="0" err="1"/>
              <a:t>Route</a:t>
            </a:r>
            <a:r>
              <a:rPr lang="hu-HU" b="1" dirty="0"/>
              <a:t>-kezelés Express-ben</a:t>
            </a:r>
            <a:br>
              <a:rPr lang="hu-HU" dirty="0"/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8C12228-6E52-4688-A18A-4BCB614DC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946777"/>
            <a:ext cx="8915400" cy="5690669"/>
          </a:xfrm>
        </p:spPr>
        <p:txBody>
          <a:bodyPr>
            <a:normAutofit lnSpcReduction="10000"/>
          </a:bodyPr>
          <a:lstStyle/>
          <a:p>
            <a:pPr algn="just"/>
            <a:r>
              <a:rPr lang="hu-HU" dirty="0"/>
              <a:t>Az </a:t>
            </a:r>
            <a:r>
              <a:rPr lang="hu-HU" b="1" dirty="0"/>
              <a:t>útvonal</a:t>
            </a:r>
            <a:r>
              <a:rPr lang="hu-HU" dirty="0"/>
              <a:t> (</a:t>
            </a:r>
            <a:r>
              <a:rPr lang="hu-HU" dirty="0" err="1"/>
              <a:t>route</a:t>
            </a:r>
            <a:r>
              <a:rPr lang="hu-HU" dirty="0"/>
              <a:t>) egy olyan szabály, amely meghatározza, hogy a szerver </a:t>
            </a:r>
            <a:r>
              <a:rPr lang="hu-HU" b="1" dirty="0"/>
              <a:t>milyen választ adjon</a:t>
            </a:r>
            <a:r>
              <a:rPr lang="hu-HU" dirty="0"/>
              <a:t> egy adott URL-re és HTTP metódusra (pl. GET, POST, PUT, DELETE).</a:t>
            </a:r>
          </a:p>
          <a:p>
            <a:pPr algn="just"/>
            <a:r>
              <a:rPr lang="hu-HU" dirty="0"/>
              <a:t>Az Express lehetővé teszi, hogy minden URL-hez egyedi logikát rendelj.</a:t>
            </a:r>
          </a:p>
          <a:p>
            <a:pPr algn="just"/>
            <a:r>
              <a:rPr lang="hu-HU" dirty="0"/>
              <a:t>/ → főoldal, ezt láttuk az előbb a „Hello </a:t>
            </a:r>
            <a:r>
              <a:rPr lang="hu-HU" dirty="0" err="1"/>
              <a:t>world</a:t>
            </a:r>
            <a:r>
              <a:rPr lang="hu-HU" dirty="0"/>
              <a:t>” alkalmazásban, ez az útvonal akkor aktiválódik, ha valaki megnyitja a </a:t>
            </a:r>
            <a:r>
              <a:rPr lang="hu-HU" b="1" dirty="0"/>
              <a:t>http://localhost:3000/ </a:t>
            </a:r>
            <a:r>
              <a:rPr lang="hu-HU" dirty="0"/>
              <a:t>címet.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hu-HU" i="1" dirty="0" err="1"/>
              <a:t>app.get</a:t>
            </a:r>
            <a:r>
              <a:rPr lang="hu-HU" i="1" dirty="0"/>
              <a:t>('/', (</a:t>
            </a:r>
            <a:r>
              <a:rPr lang="hu-HU" i="1" dirty="0" err="1"/>
              <a:t>req</a:t>
            </a:r>
            <a:r>
              <a:rPr lang="hu-HU" i="1" dirty="0"/>
              <a:t>, </a:t>
            </a:r>
            <a:r>
              <a:rPr lang="hu-HU" i="1" dirty="0" err="1"/>
              <a:t>res</a:t>
            </a:r>
            <a:r>
              <a:rPr lang="hu-HU" i="1" dirty="0"/>
              <a:t>) =&gt; { </a:t>
            </a:r>
          </a:p>
          <a:p>
            <a:pPr marL="1257300" lvl="3" indent="0">
              <a:spcBef>
                <a:spcPts val="0"/>
              </a:spcBef>
              <a:buNone/>
            </a:pPr>
            <a:r>
              <a:rPr lang="hu-HU" i="1" dirty="0"/>
              <a:t>  </a:t>
            </a:r>
            <a:r>
              <a:rPr lang="hu-HU" i="1" dirty="0" err="1"/>
              <a:t>res.send</a:t>
            </a:r>
            <a:r>
              <a:rPr lang="hu-HU" i="1" dirty="0"/>
              <a:t>('Hello, World!');</a:t>
            </a:r>
          </a:p>
          <a:p>
            <a:pPr marL="800100" lvl="2" indent="0">
              <a:spcBef>
                <a:spcPts val="0"/>
              </a:spcBef>
              <a:buNone/>
            </a:pPr>
            <a:r>
              <a:rPr lang="hu-HU" i="1" dirty="0"/>
              <a:t>});</a:t>
            </a:r>
          </a:p>
          <a:p>
            <a:pPr lvl="0"/>
            <a:r>
              <a:rPr lang="hu-HU" i="1" dirty="0"/>
              <a:t>/</a:t>
            </a:r>
            <a:r>
              <a:rPr lang="hu-HU" i="1" dirty="0" err="1"/>
              <a:t>abou</a:t>
            </a:r>
            <a:r>
              <a:rPr lang="hu-HU" dirty="0" err="1"/>
              <a:t>t</a:t>
            </a:r>
            <a:r>
              <a:rPr lang="hu-HU" dirty="0"/>
              <a:t> → bemutatkozás, e</a:t>
            </a:r>
            <a:r>
              <a:rPr lang="pt-BR" dirty="0"/>
              <a:t>z az útvonal a </a:t>
            </a:r>
            <a:r>
              <a:rPr lang="pt-BR" b="1" dirty="0"/>
              <a:t>http://localhost:3000/about</a:t>
            </a:r>
            <a:r>
              <a:rPr lang="pt-BR" dirty="0"/>
              <a:t> URL-re reagál.</a:t>
            </a:r>
            <a:endParaRPr lang="hu-HU" dirty="0"/>
          </a:p>
          <a:p>
            <a:pPr marL="80010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i="1" dirty="0" err="1"/>
              <a:t>app.get</a:t>
            </a:r>
            <a:r>
              <a:rPr lang="hu-HU" i="1" dirty="0"/>
              <a:t>('/</a:t>
            </a:r>
            <a:r>
              <a:rPr lang="hu-HU" i="1" dirty="0" err="1"/>
              <a:t>about</a:t>
            </a:r>
            <a:r>
              <a:rPr lang="hu-HU" i="1" dirty="0"/>
              <a:t>', (</a:t>
            </a:r>
            <a:r>
              <a:rPr lang="hu-HU" i="1" dirty="0" err="1"/>
              <a:t>req</a:t>
            </a:r>
            <a:r>
              <a:rPr lang="hu-HU" i="1" dirty="0"/>
              <a:t>, </a:t>
            </a:r>
            <a:r>
              <a:rPr lang="hu-HU" i="1" dirty="0" err="1"/>
              <a:t>res</a:t>
            </a:r>
            <a:r>
              <a:rPr lang="hu-HU" i="1" dirty="0"/>
              <a:t>) =&gt; {</a:t>
            </a:r>
          </a:p>
          <a:p>
            <a:pPr marL="1257300" lvl="3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i="1" dirty="0" err="1"/>
              <a:t>res.send</a:t>
            </a:r>
            <a:r>
              <a:rPr lang="hu-HU" i="1" dirty="0"/>
              <a:t>('Rólunk oldal’);</a:t>
            </a:r>
          </a:p>
          <a:p>
            <a:pPr marL="800100" lvl="2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hu-HU" sz="1200" i="1" dirty="0"/>
              <a:t>});</a:t>
            </a:r>
            <a:endParaRPr lang="hu-HU" dirty="0"/>
          </a:p>
          <a:p>
            <a:pPr lvl="0" algn="just"/>
            <a:r>
              <a:rPr lang="hu-HU" dirty="0"/>
              <a:t>/</a:t>
            </a:r>
            <a:r>
              <a:rPr lang="hu-HU" dirty="0" err="1"/>
              <a:t>api</a:t>
            </a:r>
            <a:r>
              <a:rPr lang="hu-HU" dirty="0"/>
              <a:t>/</a:t>
            </a:r>
            <a:r>
              <a:rPr lang="hu-HU" dirty="0" err="1"/>
              <a:t>users</a:t>
            </a:r>
            <a:r>
              <a:rPr lang="hu-HU" dirty="0"/>
              <a:t> → felhasználók listája, REST API végpont. JSON formátumban küldi vissza a felhasználók listáját. Használható frontend alkalmazások kiszolgálására.</a:t>
            </a:r>
          </a:p>
          <a:p>
            <a:pPr marL="800100" lvl="2" indent="0">
              <a:buNone/>
            </a:pPr>
            <a:r>
              <a:rPr lang="hu-HU" dirty="0" err="1"/>
              <a:t>app.get</a:t>
            </a:r>
            <a:r>
              <a:rPr lang="hu-HU" dirty="0"/>
              <a:t>('/</a:t>
            </a:r>
            <a:r>
              <a:rPr lang="hu-HU" dirty="0" err="1"/>
              <a:t>api</a:t>
            </a:r>
            <a:r>
              <a:rPr lang="hu-HU" dirty="0"/>
              <a:t>/</a:t>
            </a:r>
            <a:r>
              <a:rPr lang="hu-HU" dirty="0" err="1"/>
              <a:t>users</a:t>
            </a:r>
            <a:r>
              <a:rPr lang="hu-HU" dirty="0"/>
              <a:t>', (</a:t>
            </a:r>
            <a:r>
              <a:rPr lang="hu-HU" dirty="0" err="1"/>
              <a:t>req</a:t>
            </a:r>
            <a:r>
              <a:rPr lang="hu-HU" dirty="0"/>
              <a:t>, </a:t>
            </a:r>
            <a:r>
              <a:rPr lang="hu-HU" dirty="0" err="1"/>
              <a:t>res</a:t>
            </a:r>
            <a:r>
              <a:rPr lang="hu-HU" dirty="0"/>
              <a:t>) =&gt; {</a:t>
            </a:r>
          </a:p>
          <a:p>
            <a:pPr marL="1257300" lvl="3" indent="0">
              <a:buNone/>
            </a:pPr>
            <a:r>
              <a:rPr lang="hu-HU" dirty="0"/>
              <a:t>  </a:t>
            </a:r>
            <a:r>
              <a:rPr lang="hu-HU" dirty="0" err="1"/>
              <a:t>res.json</a:t>
            </a:r>
            <a:r>
              <a:rPr lang="hu-HU" dirty="0"/>
              <a:t>([{ </a:t>
            </a:r>
            <a:r>
              <a:rPr lang="hu-HU" dirty="0" err="1"/>
              <a:t>name</a:t>
            </a:r>
            <a:r>
              <a:rPr lang="hu-HU" dirty="0"/>
              <a:t>: 'Anna' }, { </a:t>
            </a:r>
            <a:r>
              <a:rPr lang="hu-HU" dirty="0" err="1"/>
              <a:t>name</a:t>
            </a:r>
            <a:r>
              <a:rPr lang="hu-HU" dirty="0"/>
              <a:t>: 'Béla' }]);</a:t>
            </a:r>
          </a:p>
          <a:p>
            <a:pPr marL="800100" lvl="2" indent="0">
              <a:buNone/>
            </a:pPr>
            <a:r>
              <a:rPr lang="hu-HU" dirty="0"/>
              <a:t>});</a:t>
            </a:r>
          </a:p>
          <a:p>
            <a:pPr marL="0" indent="0">
              <a:buNone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541337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C3C4AE1-34A8-406D-86CE-2E48C62B0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Gyakorlati feladat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52130FC-F64B-415B-A797-D5E8C4F8D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Hozz létre egy főoldalt!</a:t>
            </a:r>
          </a:p>
          <a:p>
            <a:pPr lvl="1" algn="just"/>
            <a:r>
              <a:rPr lang="hu-HU" dirty="0"/>
              <a:t>Feladat: készíts egy </a:t>
            </a:r>
            <a:r>
              <a:rPr lang="hu-HU" b="1" dirty="0" err="1"/>
              <a:t>route</a:t>
            </a:r>
            <a:r>
              <a:rPr lang="hu-HU" b="1" dirty="0"/>
              <a:t>-ot</a:t>
            </a:r>
            <a:r>
              <a:rPr lang="hu-HU" dirty="0"/>
              <a:t>, amely a </a:t>
            </a:r>
            <a:r>
              <a:rPr lang="hu-HU" b="1" dirty="0"/>
              <a:t>/ útvonalra </a:t>
            </a:r>
            <a:r>
              <a:rPr lang="hu-HU" dirty="0"/>
              <a:t>válaszol, és visszaküld egy üdvözlő szöveget: „Üdvözöllek az Express alkalmazásban!”</a:t>
            </a:r>
          </a:p>
          <a:p>
            <a:r>
              <a:rPr lang="hu-HU" dirty="0"/>
              <a:t>Készíts egy bemutatkozó oldalt!</a:t>
            </a:r>
          </a:p>
          <a:p>
            <a:pPr lvl="1" algn="just"/>
            <a:r>
              <a:rPr lang="hu-HU" dirty="0"/>
              <a:t>Feladat: hozz létre egy /</a:t>
            </a:r>
            <a:r>
              <a:rPr lang="hu-HU" dirty="0" err="1"/>
              <a:t>about</a:t>
            </a:r>
            <a:r>
              <a:rPr lang="hu-HU" dirty="0"/>
              <a:t> </a:t>
            </a:r>
            <a:r>
              <a:rPr lang="hu-HU" dirty="0" err="1"/>
              <a:t>route</a:t>
            </a:r>
            <a:r>
              <a:rPr lang="hu-HU" dirty="0"/>
              <a:t>-ot, amely visszaküld egy rövid bemutatkozást: „Ez egy egyszerű Express alkalmazás, amely </a:t>
            </a:r>
            <a:r>
              <a:rPr lang="hu-HU" dirty="0" err="1"/>
              <a:t>route-okat</a:t>
            </a:r>
            <a:r>
              <a:rPr lang="hu-HU" dirty="0"/>
              <a:t> kezel”</a:t>
            </a:r>
          </a:p>
          <a:p>
            <a:r>
              <a:rPr lang="hu-HU" dirty="0"/>
              <a:t>Készíts egy „REST API” végpontot</a:t>
            </a:r>
          </a:p>
          <a:p>
            <a:pPr lvl="1"/>
            <a:r>
              <a:rPr lang="hu-HU" dirty="0"/>
              <a:t>/</a:t>
            </a:r>
            <a:r>
              <a:rPr lang="hu-HU" dirty="0" err="1"/>
              <a:t>api</a:t>
            </a:r>
            <a:r>
              <a:rPr lang="hu-HU" dirty="0"/>
              <a:t>/</a:t>
            </a:r>
            <a:r>
              <a:rPr lang="hu-HU" dirty="0" err="1"/>
              <a:t>users</a:t>
            </a:r>
            <a:r>
              <a:rPr lang="hu-HU" dirty="0"/>
              <a:t> → Felhasználók listája, REST API végpont. JSON formátumban küldi vissza a felhasználók listáját. Használható frontend alkalmazások kiszolgálására.</a:t>
            </a:r>
          </a:p>
          <a:p>
            <a:r>
              <a:rPr lang="hu-HU" dirty="0"/>
              <a:t>Dinamikus </a:t>
            </a:r>
            <a:r>
              <a:rPr lang="hu-HU" dirty="0" err="1"/>
              <a:t>route</a:t>
            </a:r>
            <a:r>
              <a:rPr lang="hu-HU" dirty="0"/>
              <a:t> paraméter</a:t>
            </a:r>
          </a:p>
          <a:p>
            <a:pPr lvl="1"/>
            <a:r>
              <a:rPr lang="hu-HU" dirty="0"/>
              <a:t>Feladat</a:t>
            </a:r>
            <a:r>
              <a:rPr lang="hu-HU" b="1" dirty="0"/>
              <a:t>:</a:t>
            </a:r>
            <a:r>
              <a:rPr lang="hu-HU" dirty="0"/>
              <a:t> Készíts egy </a:t>
            </a:r>
            <a:r>
              <a:rPr lang="hu-HU" dirty="0" err="1"/>
              <a:t>route</a:t>
            </a:r>
            <a:r>
              <a:rPr lang="hu-HU" dirty="0"/>
              <a:t>-ot, amely egy felhasználó nevét kapja az URL-ből: </a:t>
            </a:r>
            <a:r>
              <a:rPr lang="hu-HU" i="1" dirty="0"/>
              <a:t>http://localhost:3000/hello/Anna</a:t>
            </a:r>
            <a:r>
              <a:rPr lang="hu-HU" dirty="0"/>
              <a:t>, majd üdvözli a felhasználót „Hello Anna”</a:t>
            </a:r>
          </a:p>
          <a:p>
            <a:pPr algn="just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25373907"/>
      </p:ext>
    </p:extLst>
  </p:cSld>
  <p:clrMapOvr>
    <a:masterClrMapping/>
  </p:clrMapOvr>
</p:sld>
</file>

<file path=ppt/theme/theme1.xml><?xml version="1.0" encoding="utf-8"?>
<a:theme xmlns:a="http://schemas.openxmlformats.org/drawingml/2006/main" name="Szálak">
  <a:themeElements>
    <a:clrScheme name="Szálak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Szálak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zálak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830</TotalTime>
  <Words>2209</Words>
  <Application>Microsoft Office PowerPoint</Application>
  <PresentationFormat>Szélesvásznú</PresentationFormat>
  <Paragraphs>257</Paragraphs>
  <Slides>23</Slides>
  <Notes>0</Notes>
  <HiddenSlides>0</HiddenSlides>
  <MMClips>0</MMClips>
  <ScaleCrop>false</ScaleCrop>
  <HeadingPairs>
    <vt:vector size="8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23</vt:i4>
      </vt:variant>
      <vt:variant>
        <vt:lpstr>Egyéni diasorok</vt:lpstr>
      </vt:variant>
      <vt:variant>
        <vt:i4>1</vt:i4>
      </vt:variant>
    </vt:vector>
  </HeadingPairs>
  <TitlesOfParts>
    <vt:vector size="28" baseType="lpstr">
      <vt:lpstr>Arial</vt:lpstr>
      <vt:lpstr>Century Gothic</vt:lpstr>
      <vt:lpstr>Wingdings 3</vt:lpstr>
      <vt:lpstr>Szálak</vt:lpstr>
      <vt:lpstr>Backend programozás és tesztelés</vt:lpstr>
      <vt:lpstr>BACKEND fogalma</vt:lpstr>
      <vt:lpstr>BACKEND technológiák</vt:lpstr>
      <vt:lpstr>Node.js</vt:lpstr>
      <vt:lpstr>Esemény vezérelt programozás</vt:lpstr>
      <vt:lpstr>Keretrendszer fogalma</vt:lpstr>
      <vt:lpstr>Miért használjunk keretrendszert?</vt:lpstr>
      <vt:lpstr>EXPRESS.JS keretrendszer</vt:lpstr>
      <vt:lpstr>EXPRESS.JS keretrendszer</vt:lpstr>
      <vt:lpstr>NPM</vt:lpstr>
      <vt:lpstr>BACKEND technológiák</vt:lpstr>
      <vt:lpstr>ACID tranzakciók </vt:lpstr>
      <vt:lpstr>BACKEND technológiák</vt:lpstr>
      <vt:lpstr>Egyszerűsített példa a BACKEND működésére</vt:lpstr>
      <vt:lpstr>Felhasználói fiók </vt:lpstr>
      <vt:lpstr>Első projekt inicializálása és csomagok telepítése</vt:lpstr>
      <vt:lpstr>A package.json fájl tartalma</vt:lpstr>
      <vt:lpstr>Első projekt inicializálása és csomagok telepítése</vt:lpstr>
      <vt:lpstr>„Hello, World” Express alkalmazás létrehozása</vt:lpstr>
      <vt:lpstr>Paraméterek: (req, res)</vt:lpstr>
      <vt:lpstr>Alkalmazás tesztelése</vt:lpstr>
      <vt:lpstr>Route-kezelés Express-ben </vt:lpstr>
      <vt:lpstr>Gyakorlati feladat</vt:lpstr>
      <vt:lpstr>Egyéni diasor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programozás és tesztelés</dc:title>
  <dc:creator>Varga Ildikó</dc:creator>
  <cp:lastModifiedBy>Varga Ildikó</cp:lastModifiedBy>
  <cp:revision>40</cp:revision>
  <dcterms:created xsi:type="dcterms:W3CDTF">2025-09-26T07:04:23Z</dcterms:created>
  <dcterms:modified xsi:type="dcterms:W3CDTF">2026-10-06T13:04:01Z</dcterms:modified>
</cp:coreProperties>
</file>